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5" d="100"/>
          <a:sy n="85" d="100"/>
        </p:scale>
        <p:origin x="562" y="91"/>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344183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10.png"/><Relationship Id="rId11" Type="http://schemas.openxmlformats.org/officeDocument/2006/relationships/image" Target="../media/image15.png"/><Relationship Id="rId5" Type="http://schemas.openxmlformats.org/officeDocument/2006/relationships/image" Target="../media/image9.png"/><Relationship Id="rId10" Type="http://schemas.openxmlformats.org/officeDocument/2006/relationships/image" Target="../media/image14.png"/><Relationship Id="rId4" Type="http://schemas.openxmlformats.org/officeDocument/2006/relationships/image" Target="../media/image8.png"/><Relationship Id="rId9" Type="http://schemas.openxmlformats.org/officeDocument/2006/relationships/image" Target="../media/image13.png"/></Relationships>
</file>

<file path=ppt/slides/_rels/slide3.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16.png"/><Relationship Id="rId7" Type="http://schemas.openxmlformats.org/officeDocument/2006/relationships/image" Target="../media/image20.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 Id="rId9"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image" Target="../media/image22.png"/></Relationships>
</file>

<file path=ppt/slides/_rels/slide5.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23.png"/><Relationship Id="rId7"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image" Target="../media/image20.png"/><Relationship Id="rId4" Type="http://schemas.openxmlformats.org/officeDocument/2006/relationships/image" Target="../media/image9.png"/><Relationship Id="rId9" Type="http://schemas.openxmlformats.org/officeDocument/2006/relationships/image" Target="../media/image25.png"/></Relationships>
</file>

<file path=ppt/slides/_rels/slide6.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8.png"/><Relationship Id="rId7" Type="http://schemas.openxmlformats.org/officeDocument/2006/relationships/image" Target="../media/image20.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27.png"/><Relationship Id="rId5" Type="http://schemas.openxmlformats.org/officeDocument/2006/relationships/image" Target="../media/image26.png"/><Relationship Id="rId10" Type="http://schemas.openxmlformats.org/officeDocument/2006/relationships/image" Target="../media/image28.png"/><Relationship Id="rId4" Type="http://schemas.openxmlformats.org/officeDocument/2006/relationships/image" Target="../media/image2.png"/><Relationship Id="rId9" Type="http://schemas.openxmlformats.org/officeDocument/2006/relationships/image" Target="../media/image13.png"/></Relationships>
</file>

<file path=ppt/slides/_rels/slide7.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20.png"/><Relationship Id="rId7"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17.png"/><Relationship Id="rId4" Type="http://schemas.openxmlformats.org/officeDocument/2006/relationships/image" Target="../media/image8.png"/><Relationship Id="rId9" Type="http://schemas.openxmlformats.org/officeDocument/2006/relationships/image" Target="../media/image13.png"/></Relationships>
</file>

<file path=ppt/slides/_rels/slide8.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image" Target="../media/image2.png"/><Relationship Id="rId7" Type="http://schemas.openxmlformats.org/officeDocument/2006/relationships/image" Target="../media/image22.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18.png"/><Relationship Id="rId5" Type="http://schemas.openxmlformats.org/officeDocument/2006/relationships/image" Target="../media/image20.png"/><Relationship Id="rId10" Type="http://schemas.openxmlformats.org/officeDocument/2006/relationships/image" Target="../media/image30.png"/><Relationship Id="rId4" Type="http://schemas.openxmlformats.org/officeDocument/2006/relationships/image" Target="../media/image8.png"/><Relationship Id="rId9" Type="http://schemas.openxmlformats.org/officeDocument/2006/relationships/image" Target="../media/image29.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7F4EE"/>
        </a:solidFill>
        <a:effectLst/>
      </p:bgPr>
    </p:bg>
    <p:spTree>
      <p:nvGrpSpPr>
        <p:cNvPr id="1" name=""/>
        <p:cNvGrpSpPr/>
        <p:nvPr/>
      </p:nvGrpSpPr>
      <p:grpSpPr>
        <a:xfrm>
          <a:off x="0" y="0"/>
          <a:ext cx="0" cy="0"/>
          <a:chOff x="0" y="0"/>
          <a:chExt cx="0" cy="0"/>
        </a:xfrm>
      </p:grpSpPr>
      <p:pic>
        <p:nvPicPr>
          <p:cNvPr id="2" name="Image 0" descr="C:\Users\Vikas\AppData\Local\Temp\claude\e--odoo-hackathon\d02bcbed-ac2c-44f2-a729-2f1ea408498c\scratchpad\ppt\out\pitch_lines.png"/>
          <p:cNvPicPr>
            <a:picLocks noChangeAspect="1"/>
          </p:cNvPicPr>
          <p:nvPr/>
        </p:nvPicPr>
        <p:blipFill>
          <a:blip r:embed="rId3">
            <a:alphaModFix amt="7000"/>
          </a:blip>
          <a:stretch>
            <a:fillRect/>
          </a:stretch>
        </p:blipFill>
        <p:spPr>
          <a:xfrm rot="-480000">
            <a:off x="9692640" y="-1097280"/>
            <a:ext cx="2377440" cy="7680960"/>
          </a:xfrm>
          <a:prstGeom prst="rect">
            <a:avLst/>
          </a:prstGeom>
        </p:spPr>
      </p:pic>
      <p:pic>
        <p:nvPicPr>
          <p:cNvPr id="3" name="Image 1" descr="C:\Users\Vikas\AppData\Local\Temp\claude\e--odoo-hackathon\d02bcbed-ac2c-44f2-a729-2f1ea408498c\scratchpad\ppt\out\ball_red.png"/>
          <p:cNvPicPr>
            <a:picLocks noChangeAspect="1"/>
          </p:cNvPicPr>
          <p:nvPr/>
        </p:nvPicPr>
        <p:blipFill>
          <a:blip r:embed="rId4">
            <a:alphaModFix amt="92000"/>
          </a:blip>
          <a:stretch>
            <a:fillRect/>
          </a:stretch>
        </p:blipFill>
        <p:spPr>
          <a:xfrm>
            <a:off x="-264318" y="-219456"/>
            <a:ext cx="914400" cy="914400"/>
          </a:xfrm>
          <a:prstGeom prst="rect">
            <a:avLst/>
          </a:prstGeom>
        </p:spPr>
      </p:pic>
      <p:pic>
        <p:nvPicPr>
          <p:cNvPr id="4" name="Image 2" descr="C:\Users\Vikas\AppData\Local\Temp\claude\e--odoo-hackathon\d02bcbed-ac2c-44f2-a729-2f1ea408498c\scratchpad\ppt\out\traj_red.png"/>
          <p:cNvPicPr>
            <a:picLocks noChangeAspect="1"/>
          </p:cNvPicPr>
          <p:nvPr/>
        </p:nvPicPr>
        <p:blipFill>
          <a:blip r:embed="rId5"/>
          <a:stretch>
            <a:fillRect/>
          </a:stretch>
        </p:blipFill>
        <p:spPr>
          <a:xfrm>
            <a:off x="5074920" y="457200"/>
            <a:ext cx="1600200" cy="868680"/>
          </a:xfrm>
          <a:prstGeom prst="rect">
            <a:avLst/>
          </a:prstGeom>
        </p:spPr>
      </p:pic>
      <p:pic>
        <p:nvPicPr>
          <p:cNvPr id="5" name="Image 3" descr="C:\Users\Vikas\AppData\Local\Temp\claude\e--odoo-hackathon\d02bcbed-ac2c-44f2-a729-2f1ea408498c\scratchpad\ppt\out\stumps_ink.png"/>
          <p:cNvPicPr>
            <a:picLocks noChangeAspect="1"/>
          </p:cNvPicPr>
          <p:nvPr/>
        </p:nvPicPr>
        <p:blipFill>
          <a:blip r:embed="rId6">
            <a:alphaModFix amt="92000"/>
          </a:blip>
          <a:stretch>
            <a:fillRect/>
          </a:stretch>
        </p:blipFill>
        <p:spPr>
          <a:xfrm>
            <a:off x="-306536" y="6167628"/>
            <a:ext cx="777240" cy="777240"/>
          </a:xfrm>
          <a:prstGeom prst="rect">
            <a:avLst/>
          </a:prstGeom>
        </p:spPr>
      </p:pic>
      <p:pic>
        <p:nvPicPr>
          <p:cNvPr id="6" name="Image 4" descr="C:\Users\Vikas\AppData\Local\Temp\claude\e--odoo-hackathon\d02bcbed-ac2c-44f2-a729-2f1ea408498c\scratchpad\ppt\out\bat_ink.png"/>
          <p:cNvPicPr>
            <a:picLocks noChangeAspect="1"/>
          </p:cNvPicPr>
          <p:nvPr/>
        </p:nvPicPr>
        <p:blipFill>
          <a:blip r:embed="rId7">
            <a:alphaModFix amt="92000"/>
          </a:blip>
          <a:stretch>
            <a:fillRect/>
          </a:stretch>
        </p:blipFill>
        <p:spPr>
          <a:xfrm rot="900000">
            <a:off x="11698856" y="5422391"/>
            <a:ext cx="914400" cy="1645920"/>
          </a:xfrm>
          <a:prstGeom prst="rect">
            <a:avLst/>
          </a:prstGeom>
        </p:spPr>
      </p:pic>
      <p:sp>
        <p:nvSpPr>
          <p:cNvPr id="7" name="Text 0"/>
          <p:cNvSpPr txBox="1"/>
          <p:nvPr/>
        </p:nvSpPr>
        <p:spPr>
          <a:xfrm>
            <a:off x="548640" y="384048"/>
            <a:ext cx="4572000" cy="274320"/>
          </a:xfrm>
          <a:prstGeom prst="rect">
            <a:avLst/>
          </a:prstGeom>
          <a:noFill/>
          <a:ln/>
        </p:spPr>
        <p:txBody>
          <a:bodyPr wrap="square" lIns="0" tIns="0" rIns="0" bIns="0" rtlCol="0" anchor="ctr"/>
          <a:lstStyle/>
          <a:p>
            <a:pPr marL="0" indent="0">
              <a:buNone/>
            </a:pPr>
            <a:r>
              <a:rPr lang="en-US" sz="1100" b="1" kern="0" spc="200" dirty="0">
                <a:solidFill>
                  <a:srgbClr val="6B6B67"/>
                </a:solidFill>
                <a:latin typeface="Arial" pitchFamily="34" charset="0"/>
                <a:ea typeface="Arial" pitchFamily="34" charset="-122"/>
                <a:cs typeface="Arial" pitchFamily="34" charset="-120"/>
              </a:rPr>
              <a:t>FULL-STACK WEB APPLICATION</a:t>
            </a:r>
            <a:endParaRPr lang="en-US" sz="1100" dirty="0"/>
          </a:p>
        </p:txBody>
      </p:sp>
      <p:sp>
        <p:nvSpPr>
          <p:cNvPr id="8" name="Text 1"/>
          <p:cNvSpPr txBox="1"/>
          <p:nvPr/>
        </p:nvSpPr>
        <p:spPr>
          <a:xfrm>
            <a:off x="502920" y="621792"/>
            <a:ext cx="7863840" cy="1051560"/>
          </a:xfrm>
          <a:prstGeom prst="rect">
            <a:avLst/>
          </a:prstGeom>
          <a:noFill/>
          <a:ln/>
        </p:spPr>
        <p:txBody>
          <a:bodyPr wrap="square" lIns="0" tIns="0" rIns="0" bIns="0" rtlCol="0" anchor="ctr"/>
          <a:lstStyle/>
          <a:p>
            <a:pPr marL="0" indent="0">
              <a:buNone/>
            </a:pPr>
            <a:r>
              <a:rPr lang="en-US" sz="5800" b="1" kern="0" spc="100" dirty="0">
                <a:solidFill>
                  <a:srgbClr val="111111"/>
                </a:solidFill>
                <a:latin typeface="Arial" pitchFamily="34" charset="0"/>
                <a:ea typeface="Arial" pitchFamily="34" charset="-122"/>
                <a:cs typeface="Arial" pitchFamily="34" charset="-120"/>
              </a:rPr>
              <a:t>QUICKCOURT</a:t>
            </a:r>
            <a:endParaRPr lang="en-US" sz="5800" dirty="0"/>
          </a:p>
        </p:txBody>
      </p:sp>
      <p:sp>
        <p:nvSpPr>
          <p:cNvPr id="9" name="Text 2"/>
          <p:cNvSpPr txBox="1"/>
          <p:nvPr/>
        </p:nvSpPr>
        <p:spPr>
          <a:xfrm>
            <a:off x="530352" y="1572768"/>
            <a:ext cx="6400800" cy="914400"/>
          </a:xfrm>
          <a:prstGeom prst="rect">
            <a:avLst/>
          </a:prstGeom>
          <a:noFill/>
          <a:ln/>
        </p:spPr>
        <p:txBody>
          <a:bodyPr wrap="square" lIns="0" tIns="0" rIns="0" bIns="0" rtlCol="0" anchor="ctr"/>
          <a:lstStyle/>
          <a:p>
            <a:pPr marL="0" indent="0">
              <a:buNone/>
            </a:pPr>
            <a:r>
              <a:rPr lang="en-US" sz="2600" b="1" dirty="0">
                <a:solidFill>
                  <a:srgbClr val="111111"/>
                </a:solidFill>
                <a:latin typeface="Arial" pitchFamily="34" charset="0"/>
                <a:ea typeface="Arial" pitchFamily="34" charset="-122"/>
                <a:cs typeface="Arial" pitchFamily="34" charset="-120"/>
              </a:rPr>
              <a:t>FIND YOUR COURT.</a:t>
            </a:r>
            <a:endParaRPr lang="en-US" sz="2600" dirty="0"/>
          </a:p>
          <a:p>
            <a:pPr marL="0" indent="0">
              <a:buNone/>
            </a:pPr>
            <a:r>
              <a:rPr lang="en-US" sz="2600" b="1" dirty="0">
                <a:solidFill>
                  <a:srgbClr val="E53935"/>
                </a:solidFill>
                <a:latin typeface="Arial" pitchFamily="34" charset="0"/>
                <a:ea typeface="Arial" pitchFamily="34" charset="-122"/>
                <a:cs typeface="Arial" pitchFamily="34" charset="-120"/>
              </a:rPr>
              <a:t>FIND YOUR PEOPLE.</a:t>
            </a:r>
            <a:endParaRPr lang="en-US" sz="2600" dirty="0"/>
          </a:p>
        </p:txBody>
      </p:sp>
      <p:pic>
        <p:nvPicPr>
          <p:cNvPr id="10" name="Image 5" descr="C:\Users\Vikas\AppData\Local\Temp\claude\e--odoo-hackathon\d02bcbed-ac2c-44f2-a729-2f1ea408498c\scratchpad\ppt\out\batter_ink.png"/>
          <p:cNvPicPr>
            <a:picLocks noChangeAspect="1"/>
          </p:cNvPicPr>
          <p:nvPr/>
        </p:nvPicPr>
        <p:blipFill>
          <a:blip r:embed="rId8"/>
          <a:stretch>
            <a:fillRect/>
          </a:stretch>
        </p:blipFill>
        <p:spPr>
          <a:xfrm>
            <a:off x="6245352" y="731520"/>
            <a:ext cx="4297680" cy="5303520"/>
          </a:xfrm>
          <a:prstGeom prst="rect">
            <a:avLst/>
          </a:prstGeom>
          <a:effectLst>
            <a:outerShdw blurRad="76200" dist="50800" dir="2700000" algn="bl" rotWithShape="0">
              <a:srgbClr val="000000">
                <a:alpha val="35000"/>
              </a:srgbClr>
            </a:outerShdw>
          </a:effectLst>
        </p:spPr>
      </p:pic>
      <p:sp>
        <p:nvSpPr>
          <p:cNvPr id="11" name="Text 3"/>
          <p:cNvSpPr txBox="1"/>
          <p:nvPr/>
        </p:nvSpPr>
        <p:spPr>
          <a:xfrm rot="-180000">
            <a:off x="6172200" y="6053328"/>
            <a:ext cx="1828800" cy="228600"/>
          </a:xfrm>
          <a:prstGeom prst="rect">
            <a:avLst/>
          </a:prstGeom>
          <a:noFill/>
          <a:ln/>
        </p:spPr>
        <p:txBody>
          <a:bodyPr wrap="square" lIns="0" tIns="0" rIns="0" bIns="0" rtlCol="0" anchor="ctr"/>
          <a:lstStyle/>
          <a:p>
            <a:pPr marL="0" indent="0">
              <a:buNone/>
            </a:pPr>
            <a:r>
              <a:rPr lang="en-US" sz="800" b="1" kern="0" spc="150" dirty="0">
                <a:solidFill>
                  <a:srgbClr val="E53935"/>
                </a:solidFill>
                <a:latin typeface="Arial" pitchFamily="34" charset="0"/>
                <a:ea typeface="Arial" pitchFamily="34" charset="-122"/>
                <a:cs typeface="Arial" pitchFamily="34" charset="-120"/>
              </a:rPr>
              <a:t>BOX CRICKET / 01</a:t>
            </a:r>
            <a:endParaRPr lang="en-US" sz="800" dirty="0"/>
          </a:p>
        </p:txBody>
      </p:sp>
      <p:sp>
        <p:nvSpPr>
          <p:cNvPr id="12" name="Shape 4"/>
          <p:cNvSpPr/>
          <p:nvPr/>
        </p:nvSpPr>
        <p:spPr>
          <a:xfrm>
            <a:off x="502920" y="2880360"/>
            <a:ext cx="5257800" cy="3063240"/>
          </a:xfrm>
          <a:prstGeom prst="roundRect">
            <a:avLst>
              <a:gd name="adj" fmla="val 2388"/>
            </a:avLst>
          </a:prstGeom>
          <a:solidFill>
            <a:srgbClr val="FFFFFF"/>
          </a:solidFill>
          <a:ln w="9525">
            <a:solidFill>
              <a:srgbClr val="C9C6BE"/>
            </a:solidFill>
            <a:prstDash val="solid"/>
          </a:ln>
          <a:effectLst>
            <a:outerShdw blurRad="127000" dist="38100" dir="5400000" algn="bl" rotWithShape="0">
              <a:srgbClr val="000000">
                <a:alpha val="18000"/>
              </a:srgbClr>
            </a:outerShdw>
          </a:effectLst>
        </p:spPr>
      </p:sp>
      <p:sp>
        <p:nvSpPr>
          <p:cNvPr id="13" name="Text 5"/>
          <p:cNvSpPr txBox="1"/>
          <p:nvPr/>
        </p:nvSpPr>
        <p:spPr>
          <a:xfrm>
            <a:off x="777240" y="3108960"/>
            <a:ext cx="4572000" cy="320040"/>
          </a:xfrm>
          <a:prstGeom prst="rect">
            <a:avLst/>
          </a:prstGeom>
          <a:noFill/>
          <a:ln/>
        </p:spPr>
        <p:txBody>
          <a:bodyPr wrap="square" lIns="0" tIns="0" rIns="0" bIns="0" rtlCol="0" anchor="ctr"/>
          <a:lstStyle/>
          <a:p>
            <a:pPr marL="0" indent="0">
              <a:buNone/>
            </a:pPr>
            <a:r>
              <a:rPr lang="en-US" sz="1600" b="1" kern="0" spc="100" dirty="0">
                <a:solidFill>
                  <a:srgbClr val="E53935"/>
                </a:solidFill>
                <a:latin typeface="Arial" pitchFamily="34" charset="0"/>
                <a:ea typeface="Arial" pitchFamily="34" charset="-122"/>
                <a:cs typeface="Arial" pitchFamily="34" charset="-120"/>
              </a:rPr>
              <a:t>THE PROBLEM</a:t>
            </a:r>
            <a:endParaRPr lang="en-US" sz="1600" dirty="0"/>
          </a:p>
        </p:txBody>
      </p:sp>
      <p:sp>
        <p:nvSpPr>
          <p:cNvPr id="14" name="Text 6"/>
          <p:cNvSpPr txBox="1"/>
          <p:nvPr/>
        </p:nvSpPr>
        <p:spPr>
          <a:xfrm>
            <a:off x="777240" y="3520440"/>
            <a:ext cx="4754880" cy="2148840"/>
          </a:xfrm>
          <a:prstGeom prst="rect">
            <a:avLst/>
          </a:prstGeom>
          <a:noFill/>
          <a:ln/>
        </p:spPr>
        <p:txBody>
          <a:bodyPr wrap="square" lIns="0" tIns="0" rIns="0" bIns="0" rtlCol="0" anchor="ctr"/>
          <a:lstStyle/>
          <a:p>
            <a:pPr marL="0" indent="0">
              <a:lnSpc>
                <a:spcPct val="118000"/>
              </a:lnSpc>
              <a:buNone/>
            </a:pPr>
            <a:r>
              <a:rPr lang="en-US" sz="1250" dirty="0">
                <a:solidFill>
                  <a:srgbClr val="111111"/>
                </a:solidFill>
                <a:latin typeface="Arial" pitchFamily="34" charset="0"/>
                <a:ea typeface="Arial" pitchFamily="34" charset="-122"/>
                <a:cs typeface="Arial" pitchFamily="34" charset="-120"/>
              </a:rPr>
              <a:t>QuickCourt is a platform that enables sports enthusiasts to book local sports facilities such as badminton courts, turf grounds, tennis tables and other sports venues, while also allowing them to create or join matches with people in their area.</a:t>
            </a:r>
            <a:endParaRPr lang="en-US" sz="1250" dirty="0"/>
          </a:p>
          <a:p>
            <a:pPr marL="0" indent="0">
              <a:lnSpc>
                <a:spcPct val="118000"/>
              </a:lnSpc>
              <a:buNone/>
            </a:pPr>
            <a:endParaRPr lang="en-US" sz="1250" dirty="0"/>
          </a:p>
          <a:p>
            <a:pPr marL="0" indent="0">
              <a:lnSpc>
                <a:spcPct val="118000"/>
              </a:lnSpc>
              <a:buNone/>
            </a:pPr>
            <a:r>
              <a:rPr lang="en-US" sz="1250" dirty="0">
                <a:solidFill>
                  <a:srgbClr val="111111"/>
                </a:solidFill>
                <a:latin typeface="Arial" pitchFamily="34" charset="0"/>
                <a:ea typeface="Arial" pitchFamily="34" charset="-122"/>
                <a:cs typeface="Arial" pitchFamily="34" charset="-120"/>
              </a:rPr>
              <a:t>The goal is to provide an end-to-end experience that makes discovering facilities, booking accurately, and connecting with other players simple and reliable.</a:t>
            </a:r>
            <a:endParaRPr lang="en-US" sz="1250" dirty="0"/>
          </a:p>
        </p:txBody>
      </p:sp>
      <p:sp>
        <p:nvSpPr>
          <p:cNvPr id="15" name="Text 7"/>
          <p:cNvSpPr txBox="1"/>
          <p:nvPr/>
        </p:nvSpPr>
        <p:spPr>
          <a:xfrm>
            <a:off x="502920" y="6108192"/>
            <a:ext cx="5486400" cy="274320"/>
          </a:xfrm>
          <a:prstGeom prst="rect">
            <a:avLst/>
          </a:prstGeom>
          <a:noFill/>
          <a:ln/>
        </p:spPr>
        <p:txBody>
          <a:bodyPr wrap="square" lIns="0" tIns="0" rIns="0" bIns="0" rtlCol="0" anchor="ctr"/>
          <a:lstStyle/>
          <a:p>
            <a:pPr marL="0" indent="0">
              <a:buNone/>
            </a:pPr>
            <a:r>
              <a:rPr lang="en-US" sz="1100" b="1" kern="0" spc="200" dirty="0">
                <a:solidFill>
                  <a:srgbClr val="6B6B67"/>
                </a:solidFill>
                <a:latin typeface="Arial" pitchFamily="34" charset="0"/>
                <a:ea typeface="Arial" pitchFamily="34" charset="-122"/>
                <a:cs typeface="Arial" pitchFamily="34" charset="-120"/>
              </a:rPr>
              <a:t>RUSHI  ·  HELLY  ·  KRISHNA</a:t>
            </a:r>
            <a:endParaRPr lang="en-US" sz="1100" dirty="0"/>
          </a:p>
        </p:txBody>
      </p:sp>
      <p:sp>
        <p:nvSpPr>
          <p:cNvPr id="16" name="Text 8"/>
          <p:cNvSpPr txBox="1"/>
          <p:nvPr/>
        </p:nvSpPr>
        <p:spPr>
          <a:xfrm>
            <a:off x="457200" y="6528816"/>
            <a:ext cx="2743200" cy="256032"/>
          </a:xfrm>
          <a:prstGeom prst="rect">
            <a:avLst/>
          </a:prstGeom>
          <a:noFill/>
          <a:ln/>
        </p:spPr>
        <p:txBody>
          <a:bodyPr wrap="square" lIns="0" tIns="0" rIns="0" bIns="0" rtlCol="0" anchor="ctr"/>
          <a:lstStyle/>
          <a:p>
            <a:pPr marL="0" indent="0">
              <a:buNone/>
            </a:pPr>
            <a:r>
              <a:rPr lang="en-US" sz="800" dirty="0">
                <a:solidFill>
                  <a:srgbClr val="6B6B67"/>
                </a:solidFill>
                <a:latin typeface="Arial" pitchFamily="34" charset="0"/>
                <a:ea typeface="Arial" pitchFamily="34" charset="-122"/>
                <a:cs typeface="Arial" pitchFamily="34" charset="-120"/>
              </a:rPr>
              <a:t>QUICKCOURT / 2026</a:t>
            </a:r>
            <a:endParaRPr lang="en-US" sz="800" dirty="0"/>
          </a:p>
        </p:txBody>
      </p:sp>
      <p:sp>
        <p:nvSpPr>
          <p:cNvPr id="17" name="Text 9"/>
          <p:cNvSpPr txBox="1"/>
          <p:nvPr/>
        </p:nvSpPr>
        <p:spPr>
          <a:xfrm>
            <a:off x="4480560" y="6528816"/>
            <a:ext cx="3200400" cy="256032"/>
          </a:xfrm>
          <a:prstGeom prst="rect">
            <a:avLst/>
          </a:prstGeom>
          <a:noFill/>
          <a:ln/>
        </p:spPr>
        <p:txBody>
          <a:bodyPr wrap="square" lIns="0" tIns="0" rIns="0" bIns="0" rtlCol="0" anchor="ctr"/>
          <a:lstStyle/>
          <a:p>
            <a:pPr marL="0" indent="0" algn="ctr">
              <a:buNone/>
            </a:pPr>
            <a:r>
              <a:rPr lang="en-US" sz="800" kern="0" spc="200" dirty="0">
                <a:solidFill>
                  <a:srgbClr val="6B6B67"/>
                </a:solidFill>
                <a:latin typeface="Arial" pitchFamily="34" charset="0"/>
                <a:ea typeface="Arial" pitchFamily="34" charset="-122"/>
                <a:cs typeface="Arial" pitchFamily="34" charset="-120"/>
              </a:rPr>
              <a:t>SPORTS · BOOKING · COMMUNITY</a:t>
            </a:r>
            <a:endParaRPr lang="en-US" sz="800" dirty="0"/>
          </a:p>
        </p:txBody>
      </p:sp>
      <p:sp>
        <p:nvSpPr>
          <p:cNvPr id="18" name="Text 10"/>
          <p:cNvSpPr txBox="1"/>
          <p:nvPr/>
        </p:nvSpPr>
        <p:spPr>
          <a:xfrm>
            <a:off x="10332720" y="6528816"/>
            <a:ext cx="1371600" cy="256032"/>
          </a:xfrm>
          <a:prstGeom prst="rect">
            <a:avLst/>
          </a:prstGeom>
          <a:noFill/>
          <a:ln/>
        </p:spPr>
        <p:txBody>
          <a:bodyPr wrap="square" lIns="0" tIns="0" rIns="0" bIns="0" rtlCol="0" anchor="ctr"/>
          <a:lstStyle/>
          <a:p>
            <a:pPr marL="0" indent="0" algn="r">
              <a:buNone/>
            </a:pPr>
            <a:r>
              <a:rPr lang="en-US" sz="800" b="1" dirty="0">
                <a:solidFill>
                  <a:srgbClr val="E53935"/>
                </a:solidFill>
                <a:latin typeface="Arial" pitchFamily="34" charset="0"/>
                <a:ea typeface="Arial" pitchFamily="34" charset="-122"/>
                <a:cs typeface="Arial" pitchFamily="34" charset="-120"/>
              </a:rPr>
              <a:t>01</a:t>
            </a:r>
            <a:r>
              <a:rPr lang="en-US" sz="800" dirty="0">
                <a:solidFill>
                  <a:srgbClr val="6B6B67"/>
                </a:solidFill>
                <a:latin typeface="Arial" pitchFamily="34" charset="0"/>
                <a:ea typeface="Arial" pitchFamily="34" charset="-122"/>
                <a:cs typeface="Arial" pitchFamily="34" charset="-120"/>
              </a:rPr>
              <a:t> / 08</a:t>
            </a:r>
            <a:endParaRPr lang="en-US" sz="800"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4EE"/>
        </a:solidFill>
        <a:effectLst/>
      </p:bgPr>
    </p:bg>
    <p:spTree>
      <p:nvGrpSpPr>
        <p:cNvPr id="1" name=""/>
        <p:cNvGrpSpPr/>
        <p:nvPr/>
      </p:nvGrpSpPr>
      <p:grpSpPr>
        <a:xfrm>
          <a:off x="0" y="0"/>
          <a:ext cx="0" cy="0"/>
          <a:chOff x="0" y="0"/>
          <a:chExt cx="0" cy="0"/>
        </a:xfrm>
      </p:grpSpPr>
      <p:pic>
        <p:nvPicPr>
          <p:cNvPr id="2" name="Image 0" descr="C:\Users\Vikas\AppData\Local\Temp\claude\e--odoo-hackathon\d02bcbed-ac2c-44f2-a729-2f1ea408498c\scratchpad\ppt\out\football_lines.png"/>
          <p:cNvPicPr>
            <a:picLocks noChangeAspect="1"/>
          </p:cNvPicPr>
          <p:nvPr/>
        </p:nvPicPr>
        <p:blipFill>
          <a:blip r:embed="rId3">
            <a:alphaModFix amt="7000"/>
          </a:blip>
          <a:stretch>
            <a:fillRect/>
          </a:stretch>
        </p:blipFill>
        <p:spPr>
          <a:xfrm>
            <a:off x="-1280160" y="2194560"/>
            <a:ext cx="3291840" cy="2377440"/>
          </a:xfrm>
          <a:prstGeom prst="rect">
            <a:avLst/>
          </a:prstGeom>
        </p:spPr>
      </p:pic>
      <p:pic>
        <p:nvPicPr>
          <p:cNvPr id="3" name="Image 1" descr="C:\Users\Vikas\AppData\Local\Temp\claude\e--odoo-hackathon\d02bcbed-ac2c-44f2-a729-2f1ea408498c\scratchpad\ppt\out\football_ink.png"/>
          <p:cNvPicPr>
            <a:picLocks noChangeAspect="1"/>
          </p:cNvPicPr>
          <p:nvPr/>
        </p:nvPicPr>
        <p:blipFill>
          <a:blip r:embed="rId4">
            <a:alphaModFix amt="92000"/>
          </a:blip>
          <a:stretch>
            <a:fillRect/>
          </a:stretch>
        </p:blipFill>
        <p:spPr>
          <a:xfrm>
            <a:off x="-320040" y="-128016"/>
            <a:ext cx="868680" cy="868680"/>
          </a:xfrm>
          <a:prstGeom prst="rect">
            <a:avLst/>
          </a:prstGeom>
        </p:spPr>
      </p:pic>
      <p:pic>
        <p:nvPicPr>
          <p:cNvPr id="4" name="Image 2" descr="C:\Users\Vikas\AppData\Local\Temp\claude\e--odoo-hackathon\d02bcbed-ac2c-44f2-a729-2f1ea408498c\scratchpad\ppt\out\ball_ink.png"/>
          <p:cNvPicPr>
            <a:picLocks noChangeAspect="1"/>
          </p:cNvPicPr>
          <p:nvPr/>
        </p:nvPicPr>
        <p:blipFill>
          <a:blip r:embed="rId5">
            <a:alphaModFix amt="92000"/>
          </a:blip>
          <a:stretch>
            <a:fillRect/>
          </a:stretch>
        </p:blipFill>
        <p:spPr>
          <a:xfrm rot="1200000">
            <a:off x="11562678" y="-250376"/>
            <a:ext cx="868680" cy="868680"/>
          </a:xfrm>
          <a:prstGeom prst="rect">
            <a:avLst/>
          </a:prstGeom>
        </p:spPr>
      </p:pic>
      <p:sp>
        <p:nvSpPr>
          <p:cNvPr id="5" name="Text 0"/>
          <p:cNvSpPr txBox="1"/>
          <p:nvPr/>
        </p:nvSpPr>
        <p:spPr>
          <a:xfrm>
            <a:off x="548640" y="411480"/>
            <a:ext cx="5486400" cy="292608"/>
          </a:xfrm>
          <a:prstGeom prst="rect">
            <a:avLst/>
          </a:prstGeom>
          <a:noFill/>
          <a:ln/>
        </p:spPr>
        <p:txBody>
          <a:bodyPr wrap="square" lIns="0" tIns="0" rIns="0" bIns="0" rtlCol="0" anchor="ctr"/>
          <a:lstStyle/>
          <a:p>
            <a:pPr marL="0" indent="0">
              <a:buNone/>
            </a:pPr>
            <a:r>
              <a:rPr lang="en-US" sz="1100" b="1" kern="0" spc="200" dirty="0">
                <a:solidFill>
                  <a:srgbClr val="6B6B67"/>
                </a:solidFill>
                <a:latin typeface="Arial" pitchFamily="34" charset="0"/>
                <a:ea typeface="Arial" pitchFamily="34" charset="-122"/>
                <a:cs typeface="Arial" pitchFamily="34" charset="-120"/>
              </a:rPr>
              <a:t>CORE CAPABILITIES</a:t>
            </a:r>
            <a:endParaRPr lang="en-US" sz="1100" dirty="0"/>
          </a:p>
        </p:txBody>
      </p:sp>
      <p:sp>
        <p:nvSpPr>
          <p:cNvPr id="6" name="Text 1"/>
          <p:cNvSpPr txBox="1"/>
          <p:nvPr/>
        </p:nvSpPr>
        <p:spPr>
          <a:xfrm>
            <a:off x="502920" y="658368"/>
            <a:ext cx="9144000" cy="640080"/>
          </a:xfrm>
          <a:prstGeom prst="rect">
            <a:avLst/>
          </a:prstGeom>
          <a:noFill/>
          <a:ln/>
        </p:spPr>
        <p:txBody>
          <a:bodyPr wrap="square" lIns="0" tIns="0" rIns="0" bIns="0" rtlCol="0" anchor="ctr"/>
          <a:lstStyle/>
          <a:p>
            <a:pPr marL="0" indent="0">
              <a:buNone/>
            </a:pPr>
            <a:r>
              <a:rPr lang="en-US" sz="3200" b="1" dirty="0">
                <a:solidFill>
                  <a:srgbClr val="111111"/>
                </a:solidFill>
                <a:latin typeface="Arial" pitchFamily="34" charset="0"/>
                <a:ea typeface="Arial" pitchFamily="34" charset="-122"/>
                <a:cs typeface="Arial" pitchFamily="34" charset="-120"/>
              </a:rPr>
              <a:t>THE QUICKCOURT SOLUTION</a:t>
            </a:r>
            <a:endParaRPr lang="en-US" sz="3200" dirty="0"/>
          </a:p>
        </p:txBody>
      </p:sp>
      <p:sp>
        <p:nvSpPr>
          <p:cNvPr id="7" name="Shape 2"/>
          <p:cNvSpPr/>
          <p:nvPr/>
        </p:nvSpPr>
        <p:spPr>
          <a:xfrm>
            <a:off x="548640" y="1691640"/>
            <a:ext cx="3246120" cy="2834640"/>
          </a:xfrm>
          <a:prstGeom prst="roundRect">
            <a:avLst>
              <a:gd name="adj" fmla="val 2258"/>
            </a:avLst>
          </a:prstGeom>
          <a:solidFill>
            <a:srgbClr val="FFFFFF"/>
          </a:solidFill>
          <a:ln w="9525">
            <a:solidFill>
              <a:srgbClr val="C9C6BE"/>
            </a:solidFill>
            <a:prstDash val="solid"/>
          </a:ln>
          <a:effectLst>
            <a:outerShdw blurRad="101600" dist="38100" dir="5400000" algn="bl" rotWithShape="0">
              <a:srgbClr val="000000">
                <a:alpha val="15000"/>
              </a:srgbClr>
            </a:outerShdw>
          </a:effectLst>
        </p:spPr>
      </p:sp>
      <p:pic>
        <p:nvPicPr>
          <p:cNvPr id="8" name="Image 3" descr="C:\Users\Vikas\AppData\Local\Temp\claude\e--odoo-hackathon\d02bcbed-ac2c-44f2-a729-2f1ea408498c\scratchpad\ppt\out\venue_ink.png"/>
          <p:cNvPicPr>
            <a:picLocks noChangeAspect="1"/>
          </p:cNvPicPr>
          <p:nvPr/>
        </p:nvPicPr>
        <p:blipFill>
          <a:blip r:embed="rId6"/>
          <a:stretch>
            <a:fillRect/>
          </a:stretch>
        </p:blipFill>
        <p:spPr>
          <a:xfrm>
            <a:off x="822960" y="1965960"/>
            <a:ext cx="868680" cy="822960"/>
          </a:xfrm>
          <a:prstGeom prst="rect">
            <a:avLst/>
          </a:prstGeom>
        </p:spPr>
      </p:pic>
      <p:sp>
        <p:nvSpPr>
          <p:cNvPr id="9" name="Text 3"/>
          <p:cNvSpPr txBox="1"/>
          <p:nvPr/>
        </p:nvSpPr>
        <p:spPr>
          <a:xfrm>
            <a:off x="2926080" y="1947672"/>
            <a:ext cx="640080" cy="365760"/>
          </a:xfrm>
          <a:prstGeom prst="rect">
            <a:avLst/>
          </a:prstGeom>
          <a:noFill/>
          <a:ln/>
        </p:spPr>
        <p:txBody>
          <a:bodyPr wrap="square" lIns="0" tIns="0" rIns="0" bIns="0" rtlCol="0" anchor="ctr"/>
          <a:lstStyle/>
          <a:p>
            <a:pPr marL="0" indent="0" algn="r">
              <a:buNone/>
            </a:pPr>
            <a:r>
              <a:rPr lang="en-US" sz="2000" b="1" dirty="0">
                <a:solidFill>
                  <a:srgbClr val="C9C6BE"/>
                </a:solidFill>
                <a:latin typeface="Arial" pitchFamily="34" charset="0"/>
                <a:ea typeface="Arial" pitchFamily="34" charset="-122"/>
                <a:cs typeface="Arial" pitchFamily="34" charset="-120"/>
              </a:rPr>
              <a:t>01</a:t>
            </a:r>
            <a:endParaRPr lang="en-US" sz="2000" dirty="0"/>
          </a:p>
        </p:txBody>
      </p:sp>
      <p:sp>
        <p:nvSpPr>
          <p:cNvPr id="10" name="Text 4"/>
          <p:cNvSpPr txBox="1"/>
          <p:nvPr/>
        </p:nvSpPr>
        <p:spPr>
          <a:xfrm>
            <a:off x="822960" y="2926080"/>
            <a:ext cx="2697480" cy="365760"/>
          </a:xfrm>
          <a:prstGeom prst="rect">
            <a:avLst/>
          </a:prstGeom>
          <a:noFill/>
          <a:ln/>
        </p:spPr>
        <p:txBody>
          <a:bodyPr wrap="square" lIns="0" tIns="0" rIns="0" bIns="0" rtlCol="0" anchor="ctr"/>
          <a:lstStyle/>
          <a:p>
            <a:pPr marL="0" indent="0">
              <a:buNone/>
            </a:pPr>
            <a:r>
              <a:rPr lang="en-US" sz="1700" b="1" kern="0" spc="100" dirty="0">
                <a:solidFill>
                  <a:srgbClr val="E53935"/>
                </a:solidFill>
                <a:latin typeface="Arial" pitchFamily="34" charset="0"/>
                <a:ea typeface="Arial" pitchFamily="34" charset="-122"/>
                <a:cs typeface="Arial" pitchFamily="34" charset="-120"/>
              </a:rPr>
              <a:t>DISCOVER</a:t>
            </a:r>
            <a:endParaRPr lang="en-US" sz="1700" dirty="0"/>
          </a:p>
        </p:txBody>
      </p:sp>
      <p:sp>
        <p:nvSpPr>
          <p:cNvPr id="11" name="Text 5"/>
          <p:cNvSpPr txBox="1"/>
          <p:nvPr/>
        </p:nvSpPr>
        <p:spPr>
          <a:xfrm>
            <a:off x="822960" y="3337560"/>
            <a:ext cx="2697480" cy="1097280"/>
          </a:xfrm>
          <a:prstGeom prst="rect">
            <a:avLst/>
          </a:prstGeom>
          <a:noFill/>
          <a:ln/>
        </p:spPr>
        <p:txBody>
          <a:bodyPr wrap="square" lIns="0" tIns="0" rIns="0" bIns="0" rtlCol="0" anchor="ctr"/>
          <a:lstStyle/>
          <a:p>
            <a:pPr marL="0" indent="0">
              <a:lnSpc>
                <a:spcPct val="115000"/>
              </a:lnSpc>
              <a:buNone/>
            </a:pPr>
            <a:r>
              <a:rPr lang="en-US" sz="1150" dirty="0">
                <a:solidFill>
                  <a:srgbClr val="111111"/>
                </a:solidFill>
                <a:latin typeface="Arial" pitchFamily="34" charset="0"/>
                <a:ea typeface="Arial" pitchFamily="34" charset="-122"/>
                <a:cs typeface="Arial" pitchFamily="34" charset="-120"/>
              </a:rPr>
              <a:t>Find nearby turf grounds, badminton courts, and sports facilities instantly using smart filters.</a:t>
            </a:r>
            <a:endParaRPr lang="en-US" sz="1150" dirty="0"/>
          </a:p>
        </p:txBody>
      </p:sp>
      <p:pic>
        <p:nvPicPr>
          <p:cNvPr id="12" name="Image 4" descr="C:\Users\Vikas\AppData\Local\Temp\claude\e--odoo-hackathon\d02bcbed-ac2c-44f2-a729-2f1ea408498c\scratchpad\ppt\out\arrow_ink.png"/>
          <p:cNvPicPr>
            <a:picLocks noChangeAspect="1"/>
          </p:cNvPicPr>
          <p:nvPr/>
        </p:nvPicPr>
        <p:blipFill>
          <a:blip r:embed="rId7"/>
          <a:stretch>
            <a:fillRect/>
          </a:stretch>
        </p:blipFill>
        <p:spPr>
          <a:xfrm>
            <a:off x="3813048" y="2880360"/>
            <a:ext cx="457200" cy="201168"/>
          </a:xfrm>
          <a:prstGeom prst="rect">
            <a:avLst/>
          </a:prstGeom>
        </p:spPr>
      </p:pic>
      <p:sp>
        <p:nvSpPr>
          <p:cNvPr id="13" name="Shape 6"/>
          <p:cNvSpPr/>
          <p:nvPr/>
        </p:nvSpPr>
        <p:spPr>
          <a:xfrm>
            <a:off x="4114800" y="1691640"/>
            <a:ext cx="3246120" cy="2834640"/>
          </a:xfrm>
          <a:prstGeom prst="roundRect">
            <a:avLst>
              <a:gd name="adj" fmla="val 2258"/>
            </a:avLst>
          </a:prstGeom>
          <a:solidFill>
            <a:srgbClr val="FFFFFF"/>
          </a:solidFill>
          <a:ln w="9525">
            <a:solidFill>
              <a:srgbClr val="C9C6BE"/>
            </a:solidFill>
            <a:prstDash val="solid"/>
          </a:ln>
          <a:effectLst>
            <a:outerShdw blurRad="101600" dist="38100" dir="5400000" algn="bl" rotWithShape="0">
              <a:srgbClr val="000000">
                <a:alpha val="15000"/>
              </a:srgbClr>
            </a:outerShdw>
          </a:effectLst>
        </p:spPr>
      </p:sp>
      <p:pic>
        <p:nvPicPr>
          <p:cNvPr id="14" name="Image 5" descr="C:\Users\Vikas\AppData\Local\Temp\claude\e--odoo-hackathon\d02bcbed-ac2c-44f2-a729-2f1ea408498c\scratchpad\ppt\out\card_ink.png"/>
          <p:cNvPicPr>
            <a:picLocks noChangeAspect="1"/>
          </p:cNvPicPr>
          <p:nvPr/>
        </p:nvPicPr>
        <p:blipFill>
          <a:blip r:embed="rId8"/>
          <a:stretch>
            <a:fillRect/>
          </a:stretch>
        </p:blipFill>
        <p:spPr>
          <a:xfrm>
            <a:off x="4389120" y="1965960"/>
            <a:ext cx="868680" cy="640080"/>
          </a:xfrm>
          <a:prstGeom prst="rect">
            <a:avLst/>
          </a:prstGeom>
        </p:spPr>
      </p:pic>
      <p:sp>
        <p:nvSpPr>
          <p:cNvPr id="15" name="Text 7"/>
          <p:cNvSpPr txBox="1"/>
          <p:nvPr/>
        </p:nvSpPr>
        <p:spPr>
          <a:xfrm>
            <a:off x="6492240" y="1947672"/>
            <a:ext cx="640080" cy="365760"/>
          </a:xfrm>
          <a:prstGeom prst="rect">
            <a:avLst/>
          </a:prstGeom>
          <a:noFill/>
          <a:ln/>
        </p:spPr>
        <p:txBody>
          <a:bodyPr wrap="square" lIns="0" tIns="0" rIns="0" bIns="0" rtlCol="0" anchor="ctr"/>
          <a:lstStyle/>
          <a:p>
            <a:pPr marL="0" indent="0" algn="r">
              <a:buNone/>
            </a:pPr>
            <a:r>
              <a:rPr lang="en-US" sz="2000" b="1" dirty="0">
                <a:solidFill>
                  <a:srgbClr val="C9C6BE"/>
                </a:solidFill>
                <a:latin typeface="Arial" pitchFamily="34" charset="0"/>
                <a:ea typeface="Arial" pitchFamily="34" charset="-122"/>
                <a:cs typeface="Arial" pitchFamily="34" charset="-120"/>
              </a:rPr>
              <a:t>02</a:t>
            </a:r>
            <a:endParaRPr lang="en-US" sz="2000" dirty="0"/>
          </a:p>
        </p:txBody>
      </p:sp>
      <p:sp>
        <p:nvSpPr>
          <p:cNvPr id="16" name="Text 8"/>
          <p:cNvSpPr txBox="1"/>
          <p:nvPr/>
        </p:nvSpPr>
        <p:spPr>
          <a:xfrm>
            <a:off x="4389120" y="2926080"/>
            <a:ext cx="2697480" cy="365760"/>
          </a:xfrm>
          <a:prstGeom prst="rect">
            <a:avLst/>
          </a:prstGeom>
          <a:noFill/>
          <a:ln/>
        </p:spPr>
        <p:txBody>
          <a:bodyPr wrap="square" lIns="0" tIns="0" rIns="0" bIns="0" rtlCol="0" anchor="ctr"/>
          <a:lstStyle/>
          <a:p>
            <a:pPr marL="0" indent="0">
              <a:buNone/>
            </a:pPr>
            <a:r>
              <a:rPr lang="en-US" sz="1700" b="1" kern="0" spc="100" dirty="0">
                <a:solidFill>
                  <a:srgbClr val="E53935"/>
                </a:solidFill>
                <a:latin typeface="Arial" pitchFamily="34" charset="0"/>
                <a:ea typeface="Arial" pitchFamily="34" charset="-122"/>
                <a:cs typeface="Arial" pitchFamily="34" charset="-120"/>
              </a:rPr>
              <a:t>BOOK</a:t>
            </a:r>
            <a:endParaRPr lang="en-US" sz="1700" dirty="0"/>
          </a:p>
        </p:txBody>
      </p:sp>
      <p:sp>
        <p:nvSpPr>
          <p:cNvPr id="17" name="Text 9"/>
          <p:cNvSpPr txBox="1"/>
          <p:nvPr/>
        </p:nvSpPr>
        <p:spPr>
          <a:xfrm>
            <a:off x="4389120" y="3337560"/>
            <a:ext cx="2697480" cy="1097280"/>
          </a:xfrm>
          <a:prstGeom prst="rect">
            <a:avLst/>
          </a:prstGeom>
          <a:noFill/>
          <a:ln/>
        </p:spPr>
        <p:txBody>
          <a:bodyPr wrap="square" lIns="0" tIns="0" rIns="0" bIns="0" rtlCol="0" anchor="ctr"/>
          <a:lstStyle/>
          <a:p>
            <a:pPr marL="0" indent="0">
              <a:lnSpc>
                <a:spcPct val="115000"/>
              </a:lnSpc>
              <a:buNone/>
            </a:pPr>
            <a:r>
              <a:rPr lang="en-US" sz="1150" dirty="0">
                <a:solidFill>
                  <a:srgbClr val="111111"/>
                </a:solidFill>
                <a:latin typeface="Arial" pitchFamily="34" charset="0"/>
                <a:ea typeface="Arial" pitchFamily="34" charset="-122"/>
                <a:cs typeface="Arial" pitchFamily="34" charset="-120"/>
              </a:rPr>
              <a:t>Secure real-time slots with accurate server-validated availability and pricing.</a:t>
            </a:r>
            <a:endParaRPr lang="en-US" sz="1150" dirty="0"/>
          </a:p>
        </p:txBody>
      </p:sp>
      <p:pic>
        <p:nvPicPr>
          <p:cNvPr id="18" name="Image 6" descr="C:\Users\Vikas\AppData\Local\Temp\claude\e--odoo-hackathon\d02bcbed-ac2c-44f2-a729-2f1ea408498c\scratchpad\ppt\out\arrow_ink.png"/>
          <p:cNvPicPr>
            <a:picLocks noChangeAspect="1"/>
          </p:cNvPicPr>
          <p:nvPr/>
        </p:nvPicPr>
        <p:blipFill>
          <a:blip r:embed="rId7"/>
          <a:stretch>
            <a:fillRect/>
          </a:stretch>
        </p:blipFill>
        <p:spPr>
          <a:xfrm>
            <a:off x="7379208" y="2880360"/>
            <a:ext cx="457200" cy="201168"/>
          </a:xfrm>
          <a:prstGeom prst="rect">
            <a:avLst/>
          </a:prstGeom>
        </p:spPr>
      </p:pic>
      <p:sp>
        <p:nvSpPr>
          <p:cNvPr id="19" name="Shape 10"/>
          <p:cNvSpPr/>
          <p:nvPr/>
        </p:nvSpPr>
        <p:spPr>
          <a:xfrm>
            <a:off x="7680960" y="1691640"/>
            <a:ext cx="3246120" cy="2834640"/>
          </a:xfrm>
          <a:prstGeom prst="roundRect">
            <a:avLst>
              <a:gd name="adj" fmla="val 2258"/>
            </a:avLst>
          </a:prstGeom>
          <a:solidFill>
            <a:srgbClr val="FFFFFF"/>
          </a:solidFill>
          <a:ln w="9525">
            <a:solidFill>
              <a:srgbClr val="C9C6BE"/>
            </a:solidFill>
            <a:prstDash val="solid"/>
          </a:ln>
          <a:effectLst>
            <a:outerShdw blurRad="101600" dist="38100" dir="5400000" algn="bl" rotWithShape="0">
              <a:srgbClr val="000000">
                <a:alpha val="15000"/>
              </a:srgbClr>
            </a:outerShdw>
          </a:effectLst>
        </p:spPr>
      </p:sp>
      <p:pic>
        <p:nvPicPr>
          <p:cNvPr id="20" name="Image 7" descr="C:\Users\Vikas\AppData\Local\Temp\claude\e--odoo-hackathon\d02bcbed-ac2c-44f2-a729-2f1ea408498c\scratchpad\ppt\out\group_ink.png"/>
          <p:cNvPicPr>
            <a:picLocks noChangeAspect="1"/>
          </p:cNvPicPr>
          <p:nvPr/>
        </p:nvPicPr>
        <p:blipFill>
          <a:blip r:embed="rId9"/>
          <a:stretch>
            <a:fillRect/>
          </a:stretch>
        </p:blipFill>
        <p:spPr>
          <a:xfrm>
            <a:off x="7955280" y="1965960"/>
            <a:ext cx="868680" cy="822960"/>
          </a:xfrm>
          <a:prstGeom prst="rect">
            <a:avLst/>
          </a:prstGeom>
        </p:spPr>
      </p:pic>
      <p:sp>
        <p:nvSpPr>
          <p:cNvPr id="21" name="Text 11"/>
          <p:cNvSpPr txBox="1"/>
          <p:nvPr/>
        </p:nvSpPr>
        <p:spPr>
          <a:xfrm>
            <a:off x="10058400" y="1947672"/>
            <a:ext cx="640080" cy="365760"/>
          </a:xfrm>
          <a:prstGeom prst="rect">
            <a:avLst/>
          </a:prstGeom>
          <a:noFill/>
          <a:ln/>
        </p:spPr>
        <p:txBody>
          <a:bodyPr wrap="square" lIns="0" tIns="0" rIns="0" bIns="0" rtlCol="0" anchor="ctr"/>
          <a:lstStyle/>
          <a:p>
            <a:pPr marL="0" indent="0" algn="r">
              <a:buNone/>
            </a:pPr>
            <a:r>
              <a:rPr lang="en-US" sz="2000" b="1" dirty="0">
                <a:solidFill>
                  <a:srgbClr val="C9C6BE"/>
                </a:solidFill>
                <a:latin typeface="Arial" pitchFamily="34" charset="0"/>
                <a:ea typeface="Arial" pitchFamily="34" charset="-122"/>
                <a:cs typeface="Arial" pitchFamily="34" charset="-120"/>
              </a:rPr>
              <a:t>03</a:t>
            </a:r>
            <a:endParaRPr lang="en-US" sz="2000" dirty="0"/>
          </a:p>
        </p:txBody>
      </p:sp>
      <p:sp>
        <p:nvSpPr>
          <p:cNvPr id="22" name="Text 12"/>
          <p:cNvSpPr txBox="1"/>
          <p:nvPr/>
        </p:nvSpPr>
        <p:spPr>
          <a:xfrm>
            <a:off x="7955280" y="2926080"/>
            <a:ext cx="2697480" cy="365760"/>
          </a:xfrm>
          <a:prstGeom prst="rect">
            <a:avLst/>
          </a:prstGeom>
          <a:noFill/>
          <a:ln/>
        </p:spPr>
        <p:txBody>
          <a:bodyPr wrap="square" lIns="0" tIns="0" rIns="0" bIns="0" rtlCol="0" anchor="ctr"/>
          <a:lstStyle/>
          <a:p>
            <a:pPr marL="0" indent="0">
              <a:buNone/>
            </a:pPr>
            <a:r>
              <a:rPr lang="en-US" sz="1700" b="1" kern="0" spc="100" dirty="0">
                <a:solidFill>
                  <a:srgbClr val="E53935"/>
                </a:solidFill>
                <a:latin typeface="Arial" pitchFamily="34" charset="0"/>
                <a:ea typeface="Arial" pitchFamily="34" charset="-122"/>
                <a:cs typeface="Arial" pitchFamily="34" charset="-120"/>
              </a:rPr>
              <a:t>CONNECT</a:t>
            </a:r>
            <a:endParaRPr lang="en-US" sz="1700" dirty="0"/>
          </a:p>
        </p:txBody>
      </p:sp>
      <p:sp>
        <p:nvSpPr>
          <p:cNvPr id="23" name="Text 13"/>
          <p:cNvSpPr txBox="1"/>
          <p:nvPr/>
        </p:nvSpPr>
        <p:spPr>
          <a:xfrm>
            <a:off x="7955280" y="3337560"/>
            <a:ext cx="2697480" cy="1097280"/>
          </a:xfrm>
          <a:prstGeom prst="rect">
            <a:avLst/>
          </a:prstGeom>
          <a:noFill/>
          <a:ln/>
        </p:spPr>
        <p:txBody>
          <a:bodyPr wrap="square" lIns="0" tIns="0" rIns="0" bIns="0" rtlCol="0" anchor="ctr"/>
          <a:lstStyle/>
          <a:p>
            <a:pPr marL="0" indent="0">
              <a:lnSpc>
                <a:spcPct val="115000"/>
              </a:lnSpc>
              <a:buNone/>
            </a:pPr>
            <a:r>
              <a:rPr lang="en-US" sz="1150" dirty="0">
                <a:solidFill>
                  <a:srgbClr val="111111"/>
                </a:solidFill>
                <a:latin typeface="Arial" pitchFamily="34" charset="0"/>
                <a:ea typeface="Arial" pitchFamily="34" charset="-122"/>
                <a:cs typeface="Arial" pitchFamily="34" charset="-120"/>
              </a:rPr>
              <a:t>Create or join local matches, find players, and build a thriving sports community.</a:t>
            </a:r>
            <a:endParaRPr lang="en-US" sz="1150" dirty="0"/>
          </a:p>
        </p:txBody>
      </p:sp>
      <p:sp>
        <p:nvSpPr>
          <p:cNvPr id="24" name="Text 14"/>
          <p:cNvSpPr txBox="1"/>
          <p:nvPr/>
        </p:nvSpPr>
        <p:spPr>
          <a:xfrm>
            <a:off x="548640" y="4800600"/>
            <a:ext cx="4572000" cy="274320"/>
          </a:xfrm>
          <a:prstGeom prst="rect">
            <a:avLst/>
          </a:prstGeom>
          <a:noFill/>
          <a:ln/>
        </p:spPr>
        <p:txBody>
          <a:bodyPr wrap="square" lIns="0" tIns="0" rIns="0" bIns="0" rtlCol="0" anchor="ctr"/>
          <a:lstStyle/>
          <a:p>
            <a:pPr marL="0" indent="0">
              <a:buNone/>
            </a:pPr>
            <a:r>
              <a:rPr lang="en-US" sz="1100" b="1" kern="0" spc="200" dirty="0">
                <a:solidFill>
                  <a:srgbClr val="6B6B67"/>
                </a:solidFill>
                <a:latin typeface="Arial" pitchFamily="34" charset="0"/>
                <a:ea typeface="Arial" pitchFamily="34" charset="-122"/>
                <a:cs typeface="Arial" pitchFamily="34" charset="-120"/>
              </a:rPr>
              <a:t>THREE ROLES, ONE PLATFORM</a:t>
            </a:r>
            <a:endParaRPr lang="en-US" sz="1100" dirty="0"/>
          </a:p>
        </p:txBody>
      </p:sp>
      <p:pic>
        <p:nvPicPr>
          <p:cNvPr id="25" name="Image 8" descr="C:\Users\Vikas\AppData\Local\Temp\claude\e--odoo-hackathon\d02bcbed-ac2c-44f2-a729-2f1ea408498c\scratchpad\ppt\out\player_ink.png"/>
          <p:cNvPicPr>
            <a:picLocks noChangeAspect="1"/>
          </p:cNvPicPr>
          <p:nvPr/>
        </p:nvPicPr>
        <p:blipFill>
          <a:blip r:embed="rId10"/>
          <a:stretch>
            <a:fillRect/>
          </a:stretch>
        </p:blipFill>
        <p:spPr>
          <a:xfrm>
            <a:off x="548640" y="5138928"/>
            <a:ext cx="457200" cy="457200"/>
          </a:xfrm>
          <a:prstGeom prst="rect">
            <a:avLst/>
          </a:prstGeom>
        </p:spPr>
      </p:pic>
      <p:sp>
        <p:nvSpPr>
          <p:cNvPr id="26" name="Text 15"/>
          <p:cNvSpPr txBox="1"/>
          <p:nvPr/>
        </p:nvSpPr>
        <p:spPr>
          <a:xfrm>
            <a:off x="1115568" y="5193792"/>
            <a:ext cx="2697480" cy="365760"/>
          </a:xfrm>
          <a:prstGeom prst="rect">
            <a:avLst/>
          </a:prstGeom>
          <a:noFill/>
          <a:ln/>
        </p:spPr>
        <p:txBody>
          <a:bodyPr wrap="square" lIns="0" tIns="0" rIns="0" bIns="0" rtlCol="0" anchor="ctr"/>
          <a:lstStyle/>
          <a:p>
            <a:pPr marL="0" indent="0">
              <a:buNone/>
            </a:pPr>
            <a:r>
              <a:rPr lang="en-US" sz="1300" b="1" kern="0" spc="50" dirty="0">
                <a:solidFill>
                  <a:srgbClr val="111111"/>
                </a:solidFill>
                <a:latin typeface="Arial" pitchFamily="34" charset="0"/>
                <a:ea typeface="Arial" pitchFamily="34" charset="-122"/>
                <a:cs typeface="Arial" pitchFamily="34" charset="-120"/>
              </a:rPr>
              <a:t>PLAYER</a:t>
            </a:r>
            <a:endParaRPr lang="en-US" sz="1300" dirty="0"/>
          </a:p>
        </p:txBody>
      </p:sp>
      <p:pic>
        <p:nvPicPr>
          <p:cNvPr id="27" name="Image 9" descr="C:\Users\Vikas\AppData\Local\Temp\claude\e--odoo-hackathon\d02bcbed-ac2c-44f2-a729-2f1ea408498c\scratchpad\ppt\out\venue_ink.png"/>
          <p:cNvPicPr>
            <a:picLocks noChangeAspect="1"/>
          </p:cNvPicPr>
          <p:nvPr/>
        </p:nvPicPr>
        <p:blipFill>
          <a:blip r:embed="rId6"/>
          <a:stretch>
            <a:fillRect/>
          </a:stretch>
        </p:blipFill>
        <p:spPr>
          <a:xfrm>
            <a:off x="4114800" y="5138928"/>
            <a:ext cx="457200" cy="457200"/>
          </a:xfrm>
          <a:prstGeom prst="rect">
            <a:avLst/>
          </a:prstGeom>
        </p:spPr>
      </p:pic>
      <p:sp>
        <p:nvSpPr>
          <p:cNvPr id="28" name="Text 16"/>
          <p:cNvSpPr txBox="1"/>
          <p:nvPr/>
        </p:nvSpPr>
        <p:spPr>
          <a:xfrm>
            <a:off x="4681728" y="5193792"/>
            <a:ext cx="2697480" cy="365760"/>
          </a:xfrm>
          <a:prstGeom prst="rect">
            <a:avLst/>
          </a:prstGeom>
          <a:noFill/>
          <a:ln/>
        </p:spPr>
        <p:txBody>
          <a:bodyPr wrap="square" lIns="0" tIns="0" rIns="0" bIns="0" rtlCol="0" anchor="ctr"/>
          <a:lstStyle/>
          <a:p>
            <a:pPr marL="0" indent="0">
              <a:buNone/>
            </a:pPr>
            <a:r>
              <a:rPr lang="en-US" sz="1300" b="1" kern="0" spc="50" dirty="0">
                <a:solidFill>
                  <a:srgbClr val="111111"/>
                </a:solidFill>
                <a:latin typeface="Arial" pitchFamily="34" charset="0"/>
                <a:ea typeface="Arial" pitchFamily="34" charset="-122"/>
                <a:cs typeface="Arial" pitchFamily="34" charset="-120"/>
              </a:rPr>
              <a:t>FACILITY OWNER</a:t>
            </a:r>
            <a:endParaRPr lang="en-US" sz="1300" dirty="0"/>
          </a:p>
        </p:txBody>
      </p:sp>
      <p:pic>
        <p:nvPicPr>
          <p:cNvPr id="29" name="Image 10" descr="C:\Users\Vikas\AppData\Local\Temp\claude\e--odoo-hackathon\d02bcbed-ac2c-44f2-a729-2f1ea408498c\scratchpad\ppt\out\clipboard_ink.png"/>
          <p:cNvPicPr>
            <a:picLocks noChangeAspect="1"/>
          </p:cNvPicPr>
          <p:nvPr/>
        </p:nvPicPr>
        <p:blipFill>
          <a:blip r:embed="rId11"/>
          <a:stretch>
            <a:fillRect/>
          </a:stretch>
        </p:blipFill>
        <p:spPr>
          <a:xfrm>
            <a:off x="7680960" y="5138928"/>
            <a:ext cx="457200" cy="457200"/>
          </a:xfrm>
          <a:prstGeom prst="rect">
            <a:avLst/>
          </a:prstGeom>
        </p:spPr>
      </p:pic>
      <p:sp>
        <p:nvSpPr>
          <p:cNvPr id="30" name="Text 17"/>
          <p:cNvSpPr txBox="1"/>
          <p:nvPr/>
        </p:nvSpPr>
        <p:spPr>
          <a:xfrm>
            <a:off x="8247888" y="5193792"/>
            <a:ext cx="2697480" cy="365760"/>
          </a:xfrm>
          <a:prstGeom prst="rect">
            <a:avLst/>
          </a:prstGeom>
          <a:noFill/>
          <a:ln/>
        </p:spPr>
        <p:txBody>
          <a:bodyPr wrap="square" lIns="0" tIns="0" rIns="0" bIns="0" rtlCol="0" anchor="ctr"/>
          <a:lstStyle/>
          <a:p>
            <a:pPr marL="0" indent="0">
              <a:buNone/>
            </a:pPr>
            <a:r>
              <a:rPr lang="en-US" sz="1300" b="1" kern="0" spc="50" dirty="0">
                <a:solidFill>
                  <a:srgbClr val="111111"/>
                </a:solidFill>
                <a:latin typeface="Arial" pitchFamily="34" charset="0"/>
                <a:ea typeface="Arial" pitchFamily="34" charset="-122"/>
                <a:cs typeface="Arial" pitchFamily="34" charset="-120"/>
              </a:rPr>
              <a:t>ADMIN</a:t>
            </a:r>
            <a:endParaRPr lang="en-US" sz="1300" dirty="0"/>
          </a:p>
        </p:txBody>
      </p:sp>
      <p:sp>
        <p:nvSpPr>
          <p:cNvPr id="31" name="Text 18"/>
          <p:cNvSpPr txBox="1"/>
          <p:nvPr/>
        </p:nvSpPr>
        <p:spPr>
          <a:xfrm>
            <a:off x="457200" y="6528816"/>
            <a:ext cx="2743200" cy="256032"/>
          </a:xfrm>
          <a:prstGeom prst="rect">
            <a:avLst/>
          </a:prstGeom>
          <a:noFill/>
          <a:ln/>
        </p:spPr>
        <p:txBody>
          <a:bodyPr wrap="square" lIns="0" tIns="0" rIns="0" bIns="0" rtlCol="0" anchor="ctr"/>
          <a:lstStyle/>
          <a:p>
            <a:pPr marL="0" indent="0">
              <a:buNone/>
            </a:pPr>
            <a:r>
              <a:rPr lang="en-US" sz="800" dirty="0">
                <a:solidFill>
                  <a:srgbClr val="6B6B67"/>
                </a:solidFill>
                <a:latin typeface="Arial" pitchFamily="34" charset="0"/>
                <a:ea typeface="Arial" pitchFamily="34" charset="-122"/>
                <a:cs typeface="Arial" pitchFamily="34" charset="-120"/>
              </a:rPr>
              <a:t>QUICKCOURT / 2026</a:t>
            </a:r>
            <a:endParaRPr lang="en-US" sz="800" dirty="0"/>
          </a:p>
        </p:txBody>
      </p:sp>
      <p:sp>
        <p:nvSpPr>
          <p:cNvPr id="32" name="Text 19"/>
          <p:cNvSpPr txBox="1"/>
          <p:nvPr/>
        </p:nvSpPr>
        <p:spPr>
          <a:xfrm>
            <a:off x="4480560" y="6528816"/>
            <a:ext cx="3200400" cy="256032"/>
          </a:xfrm>
          <a:prstGeom prst="rect">
            <a:avLst/>
          </a:prstGeom>
          <a:noFill/>
          <a:ln/>
        </p:spPr>
        <p:txBody>
          <a:bodyPr wrap="square" lIns="0" tIns="0" rIns="0" bIns="0" rtlCol="0" anchor="ctr"/>
          <a:lstStyle/>
          <a:p>
            <a:pPr marL="0" indent="0" algn="ctr">
              <a:buNone/>
            </a:pPr>
            <a:r>
              <a:rPr lang="en-US" sz="800" kern="0" spc="200" dirty="0">
                <a:solidFill>
                  <a:srgbClr val="6B6B67"/>
                </a:solidFill>
                <a:latin typeface="Arial" pitchFamily="34" charset="0"/>
                <a:ea typeface="Arial" pitchFamily="34" charset="-122"/>
                <a:cs typeface="Arial" pitchFamily="34" charset="-120"/>
              </a:rPr>
              <a:t>DISCOVER · BOOK · PLAY</a:t>
            </a:r>
            <a:endParaRPr lang="en-US" sz="800" dirty="0"/>
          </a:p>
        </p:txBody>
      </p:sp>
      <p:sp>
        <p:nvSpPr>
          <p:cNvPr id="33" name="Text 20"/>
          <p:cNvSpPr txBox="1"/>
          <p:nvPr/>
        </p:nvSpPr>
        <p:spPr>
          <a:xfrm>
            <a:off x="10332720" y="6528816"/>
            <a:ext cx="1371600" cy="256032"/>
          </a:xfrm>
          <a:prstGeom prst="rect">
            <a:avLst/>
          </a:prstGeom>
          <a:noFill/>
          <a:ln/>
        </p:spPr>
        <p:txBody>
          <a:bodyPr wrap="square" lIns="0" tIns="0" rIns="0" bIns="0" rtlCol="0" anchor="ctr"/>
          <a:lstStyle/>
          <a:p>
            <a:pPr marL="0" indent="0" algn="r">
              <a:buNone/>
            </a:pPr>
            <a:r>
              <a:rPr lang="en-US" sz="800" b="1" dirty="0">
                <a:solidFill>
                  <a:srgbClr val="E53935"/>
                </a:solidFill>
                <a:latin typeface="Arial" pitchFamily="34" charset="0"/>
                <a:ea typeface="Arial" pitchFamily="34" charset="-122"/>
                <a:cs typeface="Arial" pitchFamily="34" charset="-120"/>
              </a:rPr>
              <a:t>02</a:t>
            </a:r>
            <a:r>
              <a:rPr lang="en-US" sz="800" dirty="0">
                <a:solidFill>
                  <a:srgbClr val="6B6B67"/>
                </a:solidFill>
                <a:latin typeface="Arial" pitchFamily="34" charset="0"/>
                <a:ea typeface="Arial" pitchFamily="34" charset="-122"/>
                <a:cs typeface="Arial" pitchFamily="34" charset="-120"/>
              </a:rPr>
              <a:t> / 08</a:t>
            </a:r>
            <a:endParaRPr lang="en-US" sz="800"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4EE"/>
        </a:solidFill>
        <a:effectLst/>
      </p:bgPr>
    </p:bg>
    <p:spTree>
      <p:nvGrpSpPr>
        <p:cNvPr id="1" name=""/>
        <p:cNvGrpSpPr/>
        <p:nvPr/>
      </p:nvGrpSpPr>
      <p:grpSpPr>
        <a:xfrm>
          <a:off x="0" y="0"/>
          <a:ext cx="0" cy="0"/>
          <a:chOff x="0" y="0"/>
          <a:chExt cx="0" cy="0"/>
        </a:xfrm>
      </p:grpSpPr>
      <p:pic>
        <p:nvPicPr>
          <p:cNvPr id="2" name="Image 0" descr="C:\Users\Vikas\AppData\Local\Temp\claude\e--odoo-hackathon\d02bcbed-ac2c-44f2-a729-2f1ea408498c\scratchpad\ppt\out\badminton_lines.png"/>
          <p:cNvPicPr>
            <a:picLocks noChangeAspect="1"/>
          </p:cNvPicPr>
          <p:nvPr/>
        </p:nvPicPr>
        <p:blipFill>
          <a:blip r:embed="rId3">
            <a:alphaModFix amt="7000"/>
          </a:blip>
          <a:stretch>
            <a:fillRect/>
          </a:stretch>
        </p:blipFill>
        <p:spPr>
          <a:xfrm>
            <a:off x="7863840" y="1097280"/>
            <a:ext cx="5120640" cy="3200400"/>
          </a:xfrm>
          <a:prstGeom prst="rect">
            <a:avLst/>
          </a:prstGeom>
        </p:spPr>
      </p:pic>
      <p:pic>
        <p:nvPicPr>
          <p:cNvPr id="3" name="Image 1" descr="C:\Users\Vikas\AppData\Local\Temp\claude\e--odoo-hackathon\d02bcbed-ac2c-44f2-a729-2f1ea408498c\scratchpad\ppt\out\shuttle_ink.png"/>
          <p:cNvPicPr>
            <a:picLocks noChangeAspect="1"/>
          </p:cNvPicPr>
          <p:nvPr/>
        </p:nvPicPr>
        <p:blipFill>
          <a:blip r:embed="rId4">
            <a:alphaModFix amt="92000"/>
          </a:blip>
          <a:stretch>
            <a:fillRect/>
          </a:stretch>
        </p:blipFill>
        <p:spPr>
          <a:xfrm rot="1080000">
            <a:off x="11331099" y="-192477"/>
            <a:ext cx="914400" cy="1280160"/>
          </a:xfrm>
          <a:prstGeom prst="rect">
            <a:avLst/>
          </a:prstGeom>
        </p:spPr>
      </p:pic>
      <p:pic>
        <p:nvPicPr>
          <p:cNvPr id="4" name="Image 2" descr="C:\Users\Vikas\AppData\Local\Temp\claude\e--odoo-hackathon\d02bcbed-ac2c-44f2-a729-2f1ea408498c\scratchpad\ppt\out\badminton_racket_ink.png"/>
          <p:cNvPicPr>
            <a:picLocks noChangeAspect="1"/>
          </p:cNvPicPr>
          <p:nvPr/>
        </p:nvPicPr>
        <p:blipFill>
          <a:blip r:embed="rId5">
            <a:alphaModFix amt="92000"/>
          </a:blip>
          <a:stretch>
            <a:fillRect/>
          </a:stretch>
        </p:blipFill>
        <p:spPr>
          <a:xfrm rot="-720000">
            <a:off x="1150899" y="5403616"/>
            <a:ext cx="1188720" cy="2148840"/>
          </a:xfrm>
          <a:prstGeom prst="rect">
            <a:avLst/>
          </a:prstGeom>
        </p:spPr>
      </p:pic>
      <p:sp>
        <p:nvSpPr>
          <p:cNvPr id="5" name="Text 0"/>
          <p:cNvSpPr txBox="1"/>
          <p:nvPr/>
        </p:nvSpPr>
        <p:spPr>
          <a:xfrm>
            <a:off x="548640" y="411480"/>
            <a:ext cx="5486400" cy="292608"/>
          </a:xfrm>
          <a:prstGeom prst="rect">
            <a:avLst/>
          </a:prstGeom>
          <a:noFill/>
          <a:ln/>
        </p:spPr>
        <p:txBody>
          <a:bodyPr wrap="square" lIns="0" tIns="0" rIns="0" bIns="0" rtlCol="0" anchor="ctr"/>
          <a:lstStyle/>
          <a:p>
            <a:pPr marL="0" indent="0">
              <a:buNone/>
            </a:pPr>
            <a:r>
              <a:rPr lang="en-US" sz="1100" b="1" kern="0" spc="200" dirty="0">
                <a:solidFill>
                  <a:srgbClr val="6B6B67"/>
                </a:solidFill>
                <a:latin typeface="Arial" pitchFamily="34" charset="0"/>
                <a:ea typeface="Arial" pitchFamily="34" charset="-122"/>
                <a:cs typeface="Arial" pitchFamily="34" charset="-120"/>
              </a:rPr>
              <a:t>TECHNICAL FOUNDATION</a:t>
            </a:r>
            <a:endParaRPr lang="en-US" sz="1100" dirty="0"/>
          </a:p>
        </p:txBody>
      </p:sp>
      <p:sp>
        <p:nvSpPr>
          <p:cNvPr id="6" name="Text 1"/>
          <p:cNvSpPr txBox="1"/>
          <p:nvPr/>
        </p:nvSpPr>
        <p:spPr>
          <a:xfrm>
            <a:off x="502920" y="658368"/>
            <a:ext cx="9144000" cy="640080"/>
          </a:xfrm>
          <a:prstGeom prst="rect">
            <a:avLst/>
          </a:prstGeom>
          <a:noFill/>
          <a:ln/>
        </p:spPr>
        <p:txBody>
          <a:bodyPr wrap="square" lIns="0" tIns="0" rIns="0" bIns="0" rtlCol="0" anchor="ctr"/>
          <a:lstStyle/>
          <a:p>
            <a:pPr marL="0" indent="0">
              <a:buNone/>
            </a:pPr>
            <a:r>
              <a:rPr lang="en-US" sz="3000" b="1" dirty="0">
                <a:solidFill>
                  <a:srgbClr val="111111"/>
                </a:solidFill>
                <a:latin typeface="Arial" pitchFamily="34" charset="0"/>
                <a:ea typeface="Arial" pitchFamily="34" charset="-122"/>
                <a:cs typeface="Arial" pitchFamily="34" charset="-120"/>
              </a:rPr>
              <a:t>BUILT FOR SPEED &amp; SIMPLICITY</a:t>
            </a:r>
            <a:endParaRPr lang="en-US" sz="3000" dirty="0"/>
          </a:p>
        </p:txBody>
      </p:sp>
      <p:sp>
        <p:nvSpPr>
          <p:cNvPr id="7" name="Shape 2"/>
          <p:cNvSpPr/>
          <p:nvPr/>
        </p:nvSpPr>
        <p:spPr>
          <a:xfrm>
            <a:off x="548640" y="1691640"/>
            <a:ext cx="5806440" cy="566928"/>
          </a:xfrm>
          <a:prstGeom prst="roundRect">
            <a:avLst>
              <a:gd name="adj" fmla="val 9677"/>
            </a:avLst>
          </a:prstGeom>
          <a:solidFill>
            <a:srgbClr val="FFFFFF"/>
          </a:solidFill>
          <a:ln w="9525">
            <a:solidFill>
              <a:srgbClr val="C9C6BE"/>
            </a:solidFill>
            <a:prstDash val="solid"/>
          </a:ln>
          <a:effectLst>
            <a:outerShdw blurRad="76200" dist="25400" dir="5400000" algn="bl" rotWithShape="0">
              <a:srgbClr val="000000">
                <a:alpha val="13000"/>
              </a:srgbClr>
            </a:outerShdw>
          </a:effectLst>
        </p:spPr>
      </p:sp>
      <p:sp>
        <p:nvSpPr>
          <p:cNvPr id="8" name="Text 3"/>
          <p:cNvSpPr txBox="1"/>
          <p:nvPr/>
        </p:nvSpPr>
        <p:spPr>
          <a:xfrm>
            <a:off x="822960" y="1691640"/>
            <a:ext cx="4983480" cy="566928"/>
          </a:xfrm>
          <a:prstGeom prst="rect">
            <a:avLst/>
          </a:prstGeom>
          <a:noFill/>
          <a:ln/>
        </p:spPr>
        <p:txBody>
          <a:bodyPr wrap="square" lIns="0" tIns="0" rIns="0" bIns="0" rtlCol="0" anchor="ctr"/>
          <a:lstStyle/>
          <a:p>
            <a:pPr marL="0" indent="0">
              <a:buNone/>
            </a:pPr>
            <a:r>
              <a:rPr lang="en-US" sz="1350" b="1" kern="0" spc="50" dirty="0">
                <a:solidFill>
                  <a:srgbClr val="E53935"/>
                </a:solidFill>
                <a:latin typeface="Arial" pitchFamily="34" charset="0"/>
                <a:ea typeface="Arial" pitchFamily="34" charset="-122"/>
                <a:cs typeface="Arial" pitchFamily="34" charset="-120"/>
              </a:rPr>
              <a:t>PLAYER / OWNER / ADMIN</a:t>
            </a:r>
            <a:endParaRPr lang="en-US" sz="1350" dirty="0"/>
          </a:p>
        </p:txBody>
      </p:sp>
      <p:pic>
        <p:nvPicPr>
          <p:cNvPr id="9" name="Image 3" descr="C:\Users\Vikas\AppData\Local\Temp\claude\e--odoo-hackathon\d02bcbed-ac2c-44f2-a729-2f1ea408498c\scratchpad\ppt\out\arrowdown_ink.png"/>
          <p:cNvPicPr>
            <a:picLocks noChangeAspect="1"/>
          </p:cNvPicPr>
          <p:nvPr/>
        </p:nvPicPr>
        <p:blipFill>
          <a:blip r:embed="rId6"/>
          <a:stretch>
            <a:fillRect/>
          </a:stretch>
        </p:blipFill>
        <p:spPr>
          <a:xfrm>
            <a:off x="3378708" y="2267712"/>
            <a:ext cx="164592" cy="201168"/>
          </a:xfrm>
          <a:prstGeom prst="rect">
            <a:avLst/>
          </a:prstGeom>
        </p:spPr>
      </p:pic>
      <p:sp>
        <p:nvSpPr>
          <p:cNvPr id="10" name="Shape 4"/>
          <p:cNvSpPr/>
          <p:nvPr/>
        </p:nvSpPr>
        <p:spPr>
          <a:xfrm>
            <a:off x="548640" y="2478024"/>
            <a:ext cx="5806440" cy="566928"/>
          </a:xfrm>
          <a:prstGeom prst="roundRect">
            <a:avLst>
              <a:gd name="adj" fmla="val 9677"/>
            </a:avLst>
          </a:prstGeom>
          <a:solidFill>
            <a:srgbClr val="FFFFFF"/>
          </a:solidFill>
          <a:ln w="9525">
            <a:solidFill>
              <a:srgbClr val="C9C6BE"/>
            </a:solidFill>
            <a:prstDash val="solid"/>
          </a:ln>
          <a:effectLst>
            <a:outerShdw blurRad="76200" dist="25400" dir="5400000" algn="bl" rotWithShape="0">
              <a:srgbClr val="000000">
                <a:alpha val="13000"/>
              </a:srgbClr>
            </a:outerShdw>
          </a:effectLst>
        </p:spPr>
      </p:sp>
      <p:sp>
        <p:nvSpPr>
          <p:cNvPr id="11" name="Text 5"/>
          <p:cNvSpPr txBox="1"/>
          <p:nvPr/>
        </p:nvSpPr>
        <p:spPr>
          <a:xfrm>
            <a:off x="822960" y="2478024"/>
            <a:ext cx="4983480" cy="566928"/>
          </a:xfrm>
          <a:prstGeom prst="rect">
            <a:avLst/>
          </a:prstGeom>
          <a:noFill/>
          <a:ln/>
        </p:spPr>
        <p:txBody>
          <a:bodyPr wrap="square" lIns="0" tIns="0" rIns="0" bIns="0" rtlCol="0" anchor="ctr"/>
          <a:lstStyle/>
          <a:p>
            <a:pPr marL="0" indent="0">
              <a:buNone/>
            </a:pPr>
            <a:r>
              <a:rPr lang="en-US" sz="1350" b="1" kern="0" spc="50" dirty="0">
                <a:solidFill>
                  <a:srgbClr val="111111"/>
                </a:solidFill>
                <a:latin typeface="Arial" pitchFamily="34" charset="0"/>
                <a:ea typeface="Arial" pitchFamily="34" charset="-122"/>
                <a:cs typeface="Arial" pitchFamily="34" charset="-120"/>
              </a:rPr>
              <a:t>FRONTEND — VANILLA JS SPA</a:t>
            </a:r>
            <a:endParaRPr lang="en-US" sz="1350" dirty="0"/>
          </a:p>
        </p:txBody>
      </p:sp>
      <p:pic>
        <p:nvPicPr>
          <p:cNvPr id="12" name="Image 4" descr="C:\Users\Vikas\AppData\Local\Temp\claude\e--odoo-hackathon\d02bcbed-ac2c-44f2-a729-2f1ea408498c\scratchpad\ppt\out\tennis_racket_ink.png"/>
          <p:cNvPicPr>
            <a:picLocks noChangeAspect="1"/>
          </p:cNvPicPr>
          <p:nvPr/>
        </p:nvPicPr>
        <p:blipFill>
          <a:blip r:embed="rId7"/>
          <a:stretch>
            <a:fillRect/>
          </a:stretch>
        </p:blipFill>
        <p:spPr>
          <a:xfrm>
            <a:off x="5788152" y="2578608"/>
            <a:ext cx="365760" cy="365760"/>
          </a:xfrm>
          <a:prstGeom prst="rect">
            <a:avLst/>
          </a:prstGeom>
        </p:spPr>
      </p:pic>
      <p:pic>
        <p:nvPicPr>
          <p:cNvPr id="13" name="Image 5" descr="C:\Users\Vikas\AppData\Local\Temp\claude\e--odoo-hackathon\d02bcbed-ac2c-44f2-a729-2f1ea408498c\scratchpad\ppt\out\arrowdown_ink.png"/>
          <p:cNvPicPr>
            <a:picLocks noChangeAspect="1"/>
          </p:cNvPicPr>
          <p:nvPr/>
        </p:nvPicPr>
        <p:blipFill>
          <a:blip r:embed="rId6"/>
          <a:stretch>
            <a:fillRect/>
          </a:stretch>
        </p:blipFill>
        <p:spPr>
          <a:xfrm>
            <a:off x="3378708" y="3054096"/>
            <a:ext cx="164592" cy="201168"/>
          </a:xfrm>
          <a:prstGeom prst="rect">
            <a:avLst/>
          </a:prstGeom>
        </p:spPr>
      </p:pic>
      <p:sp>
        <p:nvSpPr>
          <p:cNvPr id="14" name="Shape 6"/>
          <p:cNvSpPr/>
          <p:nvPr/>
        </p:nvSpPr>
        <p:spPr>
          <a:xfrm>
            <a:off x="548640" y="3264408"/>
            <a:ext cx="5806440" cy="566928"/>
          </a:xfrm>
          <a:prstGeom prst="roundRect">
            <a:avLst>
              <a:gd name="adj" fmla="val 9677"/>
            </a:avLst>
          </a:prstGeom>
          <a:solidFill>
            <a:srgbClr val="FFFFFF"/>
          </a:solidFill>
          <a:ln w="9525">
            <a:solidFill>
              <a:srgbClr val="C9C6BE"/>
            </a:solidFill>
            <a:prstDash val="solid"/>
          </a:ln>
          <a:effectLst>
            <a:outerShdw blurRad="76200" dist="25400" dir="5400000" algn="bl" rotWithShape="0">
              <a:srgbClr val="000000">
                <a:alpha val="13000"/>
              </a:srgbClr>
            </a:outerShdw>
          </a:effectLst>
        </p:spPr>
      </p:sp>
      <p:sp>
        <p:nvSpPr>
          <p:cNvPr id="15" name="Text 7"/>
          <p:cNvSpPr txBox="1"/>
          <p:nvPr/>
        </p:nvSpPr>
        <p:spPr>
          <a:xfrm>
            <a:off x="822960" y="3264408"/>
            <a:ext cx="4983480" cy="566928"/>
          </a:xfrm>
          <a:prstGeom prst="rect">
            <a:avLst/>
          </a:prstGeom>
          <a:noFill/>
          <a:ln/>
        </p:spPr>
        <p:txBody>
          <a:bodyPr wrap="square" lIns="0" tIns="0" rIns="0" bIns="0" rtlCol="0" anchor="ctr"/>
          <a:lstStyle/>
          <a:p>
            <a:pPr marL="0" indent="0">
              <a:buNone/>
            </a:pPr>
            <a:r>
              <a:rPr lang="en-US" sz="1350" b="1" kern="0" spc="50" dirty="0">
                <a:solidFill>
                  <a:srgbClr val="111111"/>
                </a:solidFill>
                <a:latin typeface="Arial" pitchFamily="34" charset="0"/>
                <a:ea typeface="Arial" pitchFamily="34" charset="-122"/>
                <a:cs typeface="Arial" pitchFamily="34" charset="-120"/>
              </a:rPr>
              <a:t>REST API</a:t>
            </a:r>
            <a:endParaRPr lang="en-US" sz="1350" dirty="0"/>
          </a:p>
        </p:txBody>
      </p:sp>
      <p:pic>
        <p:nvPicPr>
          <p:cNvPr id="16" name="Image 6" descr="C:\Users\Vikas\AppData\Local\Temp\claude\e--odoo-hackathon\d02bcbed-ac2c-44f2-a729-2f1ea408498c\scratchpad\ppt\out\ball_ink.png"/>
          <p:cNvPicPr>
            <a:picLocks noChangeAspect="1"/>
          </p:cNvPicPr>
          <p:nvPr/>
        </p:nvPicPr>
        <p:blipFill>
          <a:blip r:embed="rId8"/>
          <a:stretch>
            <a:fillRect/>
          </a:stretch>
        </p:blipFill>
        <p:spPr>
          <a:xfrm>
            <a:off x="5788152" y="3364992"/>
            <a:ext cx="365760" cy="365760"/>
          </a:xfrm>
          <a:prstGeom prst="rect">
            <a:avLst/>
          </a:prstGeom>
        </p:spPr>
      </p:pic>
      <p:pic>
        <p:nvPicPr>
          <p:cNvPr id="17" name="Image 7" descr="C:\Users\Vikas\AppData\Local\Temp\claude\e--odoo-hackathon\d02bcbed-ac2c-44f2-a729-2f1ea408498c\scratchpad\ppt\out\arrowdown_ink.png"/>
          <p:cNvPicPr>
            <a:picLocks noChangeAspect="1"/>
          </p:cNvPicPr>
          <p:nvPr/>
        </p:nvPicPr>
        <p:blipFill>
          <a:blip r:embed="rId6"/>
          <a:stretch>
            <a:fillRect/>
          </a:stretch>
        </p:blipFill>
        <p:spPr>
          <a:xfrm>
            <a:off x="3378708" y="3840480"/>
            <a:ext cx="164592" cy="201168"/>
          </a:xfrm>
          <a:prstGeom prst="rect">
            <a:avLst/>
          </a:prstGeom>
        </p:spPr>
      </p:pic>
      <p:sp>
        <p:nvSpPr>
          <p:cNvPr id="18" name="Shape 8"/>
          <p:cNvSpPr/>
          <p:nvPr/>
        </p:nvSpPr>
        <p:spPr>
          <a:xfrm>
            <a:off x="548640" y="4050792"/>
            <a:ext cx="5806440" cy="566928"/>
          </a:xfrm>
          <a:prstGeom prst="roundRect">
            <a:avLst>
              <a:gd name="adj" fmla="val 9677"/>
            </a:avLst>
          </a:prstGeom>
          <a:solidFill>
            <a:srgbClr val="FFFFFF"/>
          </a:solidFill>
          <a:ln w="9525">
            <a:solidFill>
              <a:srgbClr val="C9C6BE"/>
            </a:solidFill>
            <a:prstDash val="solid"/>
          </a:ln>
          <a:effectLst>
            <a:outerShdw blurRad="76200" dist="25400" dir="5400000" algn="bl" rotWithShape="0">
              <a:srgbClr val="000000">
                <a:alpha val="13000"/>
              </a:srgbClr>
            </a:outerShdw>
          </a:effectLst>
        </p:spPr>
      </p:sp>
      <p:sp>
        <p:nvSpPr>
          <p:cNvPr id="19" name="Text 9"/>
          <p:cNvSpPr txBox="1"/>
          <p:nvPr/>
        </p:nvSpPr>
        <p:spPr>
          <a:xfrm>
            <a:off x="822960" y="4050792"/>
            <a:ext cx="4983480" cy="566928"/>
          </a:xfrm>
          <a:prstGeom prst="rect">
            <a:avLst/>
          </a:prstGeom>
          <a:noFill/>
          <a:ln/>
        </p:spPr>
        <p:txBody>
          <a:bodyPr wrap="square" lIns="0" tIns="0" rIns="0" bIns="0" rtlCol="0" anchor="ctr"/>
          <a:lstStyle/>
          <a:p>
            <a:pPr marL="0" indent="0">
              <a:buNone/>
            </a:pPr>
            <a:r>
              <a:rPr lang="en-US" sz="1350" b="1" kern="0" spc="50" dirty="0">
                <a:solidFill>
                  <a:srgbClr val="111111"/>
                </a:solidFill>
                <a:latin typeface="Arial" pitchFamily="34" charset="0"/>
                <a:ea typeface="Arial" pitchFamily="34" charset="-122"/>
                <a:cs typeface="Arial" pitchFamily="34" charset="-120"/>
              </a:rPr>
              <a:t>NODE.JS + EXPRESS 5</a:t>
            </a:r>
            <a:endParaRPr lang="en-US" sz="1350" dirty="0"/>
          </a:p>
        </p:txBody>
      </p:sp>
      <p:pic>
        <p:nvPicPr>
          <p:cNvPr id="20" name="Image 8" descr="C:\Users\Vikas\AppData\Local\Temp\claude\e--odoo-hackathon\d02bcbed-ac2c-44f2-a729-2f1ea408498c\scratchpad\ppt\out\football_ink.png"/>
          <p:cNvPicPr>
            <a:picLocks noChangeAspect="1"/>
          </p:cNvPicPr>
          <p:nvPr/>
        </p:nvPicPr>
        <p:blipFill>
          <a:blip r:embed="rId9"/>
          <a:stretch>
            <a:fillRect/>
          </a:stretch>
        </p:blipFill>
        <p:spPr>
          <a:xfrm>
            <a:off x="5788152" y="4151376"/>
            <a:ext cx="365760" cy="365760"/>
          </a:xfrm>
          <a:prstGeom prst="rect">
            <a:avLst/>
          </a:prstGeom>
        </p:spPr>
      </p:pic>
      <p:pic>
        <p:nvPicPr>
          <p:cNvPr id="21" name="Image 9" descr="C:\Users\Vikas\AppData\Local\Temp\claude\e--odoo-hackathon\d02bcbed-ac2c-44f2-a729-2f1ea408498c\scratchpad\ppt\out\arrowdown_ink.png"/>
          <p:cNvPicPr>
            <a:picLocks noChangeAspect="1"/>
          </p:cNvPicPr>
          <p:nvPr/>
        </p:nvPicPr>
        <p:blipFill>
          <a:blip r:embed="rId6"/>
          <a:stretch>
            <a:fillRect/>
          </a:stretch>
        </p:blipFill>
        <p:spPr>
          <a:xfrm>
            <a:off x="3378708" y="4626864"/>
            <a:ext cx="164592" cy="201168"/>
          </a:xfrm>
          <a:prstGeom prst="rect">
            <a:avLst/>
          </a:prstGeom>
        </p:spPr>
      </p:pic>
      <p:sp>
        <p:nvSpPr>
          <p:cNvPr id="22" name="Shape 10"/>
          <p:cNvSpPr/>
          <p:nvPr/>
        </p:nvSpPr>
        <p:spPr>
          <a:xfrm>
            <a:off x="548640" y="4837176"/>
            <a:ext cx="5806440" cy="566928"/>
          </a:xfrm>
          <a:prstGeom prst="roundRect">
            <a:avLst>
              <a:gd name="adj" fmla="val 9677"/>
            </a:avLst>
          </a:prstGeom>
          <a:solidFill>
            <a:srgbClr val="FFFFFF"/>
          </a:solidFill>
          <a:ln w="9525">
            <a:solidFill>
              <a:srgbClr val="C9C6BE"/>
            </a:solidFill>
            <a:prstDash val="solid"/>
          </a:ln>
          <a:effectLst>
            <a:outerShdw blurRad="76200" dist="25400" dir="5400000" algn="bl" rotWithShape="0">
              <a:srgbClr val="000000">
                <a:alpha val="13000"/>
              </a:srgbClr>
            </a:outerShdw>
          </a:effectLst>
        </p:spPr>
      </p:sp>
      <p:sp>
        <p:nvSpPr>
          <p:cNvPr id="23" name="Text 11"/>
          <p:cNvSpPr txBox="1"/>
          <p:nvPr/>
        </p:nvSpPr>
        <p:spPr>
          <a:xfrm>
            <a:off x="822960" y="4837176"/>
            <a:ext cx="4983480" cy="566928"/>
          </a:xfrm>
          <a:prstGeom prst="rect">
            <a:avLst/>
          </a:prstGeom>
          <a:noFill/>
          <a:ln/>
        </p:spPr>
        <p:txBody>
          <a:bodyPr wrap="square" lIns="0" tIns="0" rIns="0" bIns="0" rtlCol="0" anchor="ctr"/>
          <a:lstStyle/>
          <a:p>
            <a:pPr marL="0" indent="0">
              <a:buNone/>
            </a:pPr>
            <a:r>
              <a:rPr lang="en-US" sz="1350" b="1" kern="0" spc="50" dirty="0">
                <a:solidFill>
                  <a:srgbClr val="111111"/>
                </a:solidFill>
                <a:latin typeface="Arial" pitchFamily="34" charset="0"/>
                <a:ea typeface="Arial" pitchFamily="34" charset="-122"/>
                <a:cs typeface="Arial" pitchFamily="34" charset="-120"/>
              </a:rPr>
              <a:t>SQLITE DATABASE</a:t>
            </a:r>
            <a:endParaRPr lang="en-US" sz="1350" dirty="0"/>
          </a:p>
        </p:txBody>
      </p:sp>
      <p:pic>
        <p:nvPicPr>
          <p:cNvPr id="24" name="Image 10" descr="C:\Users\Vikas\AppData\Local\Temp\claude\e--odoo-hackathon\d02bcbed-ac2c-44f2-a729-2f1ea408498c\scratchpad\ppt\out\shuttle_ink.png"/>
          <p:cNvPicPr>
            <a:picLocks noChangeAspect="1"/>
          </p:cNvPicPr>
          <p:nvPr/>
        </p:nvPicPr>
        <p:blipFill>
          <a:blip r:embed="rId4"/>
          <a:stretch>
            <a:fillRect/>
          </a:stretch>
        </p:blipFill>
        <p:spPr>
          <a:xfrm>
            <a:off x="5788152" y="4937760"/>
            <a:ext cx="365760" cy="365760"/>
          </a:xfrm>
          <a:prstGeom prst="rect">
            <a:avLst/>
          </a:prstGeom>
        </p:spPr>
      </p:pic>
      <p:sp>
        <p:nvSpPr>
          <p:cNvPr id="25" name="Shape 12"/>
          <p:cNvSpPr/>
          <p:nvPr/>
        </p:nvSpPr>
        <p:spPr>
          <a:xfrm>
            <a:off x="6675120" y="1691640"/>
            <a:ext cx="4983480" cy="4160520"/>
          </a:xfrm>
          <a:prstGeom prst="roundRect">
            <a:avLst>
              <a:gd name="adj" fmla="val 1538"/>
            </a:avLst>
          </a:prstGeom>
          <a:solidFill>
            <a:srgbClr val="FFFFFF"/>
          </a:solidFill>
          <a:ln w="9525">
            <a:solidFill>
              <a:srgbClr val="C9C6BE"/>
            </a:solidFill>
            <a:prstDash val="solid"/>
          </a:ln>
          <a:effectLst>
            <a:outerShdw blurRad="101600" dist="38100" dir="5400000" algn="bl" rotWithShape="0">
              <a:srgbClr val="000000">
                <a:alpha val="15000"/>
              </a:srgbClr>
            </a:outerShdw>
          </a:effectLst>
        </p:spPr>
      </p:sp>
      <p:sp>
        <p:nvSpPr>
          <p:cNvPr id="26" name="Text 13"/>
          <p:cNvSpPr txBox="1"/>
          <p:nvPr/>
        </p:nvSpPr>
        <p:spPr>
          <a:xfrm>
            <a:off x="6949440" y="1920240"/>
            <a:ext cx="4480560" cy="320040"/>
          </a:xfrm>
          <a:prstGeom prst="rect">
            <a:avLst/>
          </a:prstGeom>
          <a:noFill/>
          <a:ln/>
        </p:spPr>
        <p:txBody>
          <a:bodyPr wrap="square" lIns="0" tIns="0" rIns="0" bIns="0" rtlCol="0" anchor="ctr"/>
          <a:lstStyle/>
          <a:p>
            <a:pPr marL="0" indent="0">
              <a:buNone/>
            </a:pPr>
            <a:r>
              <a:rPr lang="en-US" sz="1500" b="1" kern="0" spc="100" dirty="0">
                <a:solidFill>
                  <a:srgbClr val="E53935"/>
                </a:solidFill>
                <a:latin typeface="Arial" pitchFamily="34" charset="0"/>
                <a:ea typeface="Arial" pitchFamily="34" charset="-122"/>
                <a:cs typeface="Arial" pitchFamily="34" charset="-120"/>
              </a:rPr>
              <a:t>MVP STACK</a:t>
            </a:r>
            <a:endParaRPr lang="en-US" sz="1500" dirty="0"/>
          </a:p>
        </p:txBody>
      </p:sp>
      <p:sp>
        <p:nvSpPr>
          <p:cNvPr id="27" name="Text 14"/>
          <p:cNvSpPr txBox="1"/>
          <p:nvPr/>
        </p:nvSpPr>
        <p:spPr>
          <a:xfrm>
            <a:off x="6949440" y="2286000"/>
            <a:ext cx="4480560" cy="777240"/>
          </a:xfrm>
          <a:prstGeom prst="rect">
            <a:avLst/>
          </a:prstGeom>
          <a:noFill/>
          <a:ln/>
        </p:spPr>
        <p:txBody>
          <a:bodyPr wrap="square" lIns="0" tIns="0" rIns="0" bIns="0" rtlCol="0" anchor="ctr"/>
          <a:lstStyle/>
          <a:p>
            <a:pPr marL="0" indent="0">
              <a:lnSpc>
                <a:spcPct val="115000"/>
              </a:lnSpc>
              <a:buNone/>
            </a:pPr>
            <a:r>
              <a:rPr lang="en-US" sz="1150" dirty="0">
                <a:solidFill>
                  <a:srgbClr val="111111"/>
                </a:solidFill>
                <a:latin typeface="Arial" pitchFamily="34" charset="0"/>
                <a:ea typeface="Arial" pitchFamily="34" charset="-122"/>
                <a:cs typeface="Arial" pitchFamily="34" charset="-120"/>
              </a:rPr>
              <a:t>The MVP stack is designed for rapid iteration, leveraging standard web technologies and minimal infrastructure overhead.</a:t>
            </a:r>
            <a:endParaRPr lang="en-US" sz="1150" dirty="0"/>
          </a:p>
        </p:txBody>
      </p:sp>
      <p:sp>
        <p:nvSpPr>
          <p:cNvPr id="28" name="Text 15"/>
          <p:cNvSpPr txBox="1"/>
          <p:nvPr/>
        </p:nvSpPr>
        <p:spPr>
          <a:xfrm>
            <a:off x="6949440" y="3154680"/>
            <a:ext cx="4480560" cy="1920240"/>
          </a:xfrm>
          <a:prstGeom prst="rect">
            <a:avLst/>
          </a:prstGeom>
          <a:noFill/>
          <a:ln/>
        </p:spPr>
        <p:txBody>
          <a:bodyPr wrap="square" lIns="0" tIns="0" rIns="0" bIns="0" rtlCol="0" anchor="ctr"/>
          <a:lstStyle/>
          <a:p>
            <a:pPr marL="342900" indent="-342900">
              <a:spcAft>
                <a:spcPts val="800"/>
              </a:spcAft>
              <a:buSzPct val="100000"/>
              <a:buChar char="•"/>
            </a:pPr>
            <a:r>
              <a:rPr lang="en-US" sz="1150" dirty="0">
                <a:solidFill>
                  <a:srgbClr val="111111"/>
                </a:solidFill>
                <a:latin typeface="Arial" pitchFamily="34" charset="0"/>
                <a:ea typeface="Arial" pitchFamily="34" charset="-122"/>
                <a:cs typeface="Arial" pitchFamily="34" charset="-120"/>
              </a:rPr>
              <a:t>One index.html — vanilla JS SPA, hash router, no build step</a:t>
            </a:r>
            <a:endParaRPr lang="en-US" sz="1150" dirty="0"/>
          </a:p>
          <a:p>
            <a:pPr marL="342900" indent="-342900">
              <a:spcAft>
                <a:spcPts val="800"/>
              </a:spcAft>
              <a:buSzPct val="100000"/>
              <a:buChar char="•"/>
            </a:pPr>
            <a:r>
              <a:rPr lang="en-US" sz="1150" dirty="0">
                <a:solidFill>
                  <a:srgbClr val="111111"/>
                </a:solidFill>
                <a:latin typeface="Arial" pitchFamily="34" charset="0"/>
                <a:ea typeface="Arial" pitchFamily="34" charset="-122"/>
                <a:cs typeface="Arial" pitchFamily="34" charset="-120"/>
              </a:rPr>
              <a:t>Node.js + Express 5 REST API</a:t>
            </a:r>
            <a:endParaRPr lang="en-US" sz="1150" dirty="0"/>
          </a:p>
          <a:p>
            <a:pPr marL="342900" indent="-342900">
              <a:spcAft>
                <a:spcPts val="800"/>
              </a:spcAft>
              <a:buSzPct val="100000"/>
              <a:buChar char="•"/>
            </a:pPr>
            <a:r>
              <a:rPr lang="en-US" sz="1150" dirty="0">
                <a:solidFill>
                  <a:srgbClr val="111111"/>
                </a:solidFill>
                <a:latin typeface="Arial" pitchFamily="34" charset="0"/>
                <a:ea typeface="Arial" pitchFamily="34" charset="-122"/>
                <a:cs typeface="Arial" pitchFamily="34" charset="-120"/>
              </a:rPr>
              <a:t>SQLite database, seeded automatically</a:t>
            </a:r>
            <a:endParaRPr lang="en-US" sz="1150" dirty="0"/>
          </a:p>
          <a:p>
            <a:pPr marL="342900" indent="-342900">
              <a:spcAft>
                <a:spcPts val="800"/>
              </a:spcAft>
              <a:buSzPct val="100000"/>
              <a:buChar char="•"/>
            </a:pPr>
            <a:r>
              <a:rPr lang="en-US" sz="1150" dirty="0">
                <a:solidFill>
                  <a:srgbClr val="111111"/>
                </a:solidFill>
                <a:latin typeface="Arial" pitchFamily="34" charset="0"/>
                <a:ea typeface="Arial" pitchFamily="34" charset="-122"/>
                <a:cs typeface="Arial" pitchFamily="34" charset="-120"/>
              </a:rPr>
              <a:t>Server-side lock prevents double booking</a:t>
            </a:r>
            <a:endParaRPr lang="en-US" sz="1150" dirty="0"/>
          </a:p>
          <a:p>
            <a:pPr marL="342900" indent="-342900">
              <a:spcAft>
                <a:spcPts val="800"/>
              </a:spcAft>
              <a:buSzPct val="100000"/>
              <a:buChar char="•"/>
            </a:pPr>
            <a:r>
              <a:rPr lang="en-US" sz="1150" dirty="0">
                <a:solidFill>
                  <a:srgbClr val="111111"/>
                </a:solidFill>
                <a:latin typeface="Arial" pitchFamily="34" charset="0"/>
                <a:ea typeface="Arial" pitchFamily="34" charset="-122"/>
                <a:cs typeface="Arial" pitchFamily="34" charset="-120"/>
              </a:rPr>
              <a:t>Simulated payment gateway</a:t>
            </a:r>
            <a:endParaRPr lang="en-US" sz="1150" dirty="0"/>
          </a:p>
        </p:txBody>
      </p:sp>
      <p:sp>
        <p:nvSpPr>
          <p:cNvPr id="29" name="Text 16"/>
          <p:cNvSpPr txBox="1"/>
          <p:nvPr/>
        </p:nvSpPr>
        <p:spPr>
          <a:xfrm>
            <a:off x="6949440" y="5212080"/>
            <a:ext cx="4480560" cy="320040"/>
          </a:xfrm>
          <a:prstGeom prst="rect">
            <a:avLst/>
          </a:prstGeom>
          <a:noFill/>
          <a:ln/>
        </p:spPr>
        <p:txBody>
          <a:bodyPr wrap="square" lIns="0" tIns="0" rIns="0" bIns="0" rtlCol="0" anchor="ctr"/>
          <a:lstStyle/>
          <a:p>
            <a:pPr marL="0" indent="0">
              <a:buNone/>
            </a:pPr>
            <a:r>
              <a:rPr lang="en-US" sz="1200" b="1" kern="0" spc="100" dirty="0">
                <a:solidFill>
                  <a:srgbClr val="111111"/>
                </a:solidFill>
                <a:latin typeface="Arial" pitchFamily="34" charset="0"/>
                <a:ea typeface="Arial" pitchFamily="34" charset="-122"/>
                <a:cs typeface="Arial" pitchFamily="34" charset="-120"/>
              </a:rPr>
              <a:t>FAST, RELIABLE, AND FUNCTIONAL.</a:t>
            </a:r>
            <a:endParaRPr lang="en-US" sz="1200" dirty="0"/>
          </a:p>
        </p:txBody>
      </p:sp>
      <p:sp>
        <p:nvSpPr>
          <p:cNvPr id="30" name="Text 17"/>
          <p:cNvSpPr txBox="1"/>
          <p:nvPr/>
        </p:nvSpPr>
        <p:spPr>
          <a:xfrm>
            <a:off x="457200" y="6528816"/>
            <a:ext cx="2743200" cy="256032"/>
          </a:xfrm>
          <a:prstGeom prst="rect">
            <a:avLst/>
          </a:prstGeom>
          <a:noFill/>
          <a:ln/>
        </p:spPr>
        <p:txBody>
          <a:bodyPr wrap="square" lIns="0" tIns="0" rIns="0" bIns="0" rtlCol="0" anchor="ctr"/>
          <a:lstStyle/>
          <a:p>
            <a:pPr marL="0" indent="0">
              <a:buNone/>
            </a:pPr>
            <a:r>
              <a:rPr lang="en-US" sz="800" dirty="0">
                <a:solidFill>
                  <a:srgbClr val="6B6B67"/>
                </a:solidFill>
                <a:latin typeface="Arial" pitchFamily="34" charset="0"/>
                <a:ea typeface="Arial" pitchFamily="34" charset="-122"/>
                <a:cs typeface="Arial" pitchFamily="34" charset="-120"/>
              </a:rPr>
              <a:t>QUICKCOURT / 2026</a:t>
            </a:r>
            <a:endParaRPr lang="en-US" sz="800" dirty="0"/>
          </a:p>
        </p:txBody>
      </p:sp>
      <p:sp>
        <p:nvSpPr>
          <p:cNvPr id="31" name="Text 18"/>
          <p:cNvSpPr txBox="1"/>
          <p:nvPr/>
        </p:nvSpPr>
        <p:spPr>
          <a:xfrm>
            <a:off x="4480560" y="6528816"/>
            <a:ext cx="3200400" cy="256032"/>
          </a:xfrm>
          <a:prstGeom prst="rect">
            <a:avLst/>
          </a:prstGeom>
          <a:noFill/>
          <a:ln/>
        </p:spPr>
        <p:txBody>
          <a:bodyPr wrap="square" lIns="0" tIns="0" rIns="0" bIns="0" rtlCol="0" anchor="ctr"/>
          <a:lstStyle/>
          <a:p>
            <a:pPr marL="0" indent="0" algn="ctr">
              <a:buNone/>
            </a:pPr>
            <a:r>
              <a:rPr lang="en-US" sz="800" kern="0" spc="200" dirty="0">
                <a:solidFill>
                  <a:srgbClr val="6B6B67"/>
                </a:solidFill>
                <a:latin typeface="Arial" pitchFamily="34" charset="0"/>
                <a:ea typeface="Arial" pitchFamily="34" charset="-122"/>
                <a:cs typeface="Arial" pitchFamily="34" charset="-120"/>
              </a:rPr>
              <a:t>ARCHITECTURE</a:t>
            </a:r>
            <a:endParaRPr lang="en-US" sz="800" dirty="0"/>
          </a:p>
        </p:txBody>
      </p:sp>
      <p:sp>
        <p:nvSpPr>
          <p:cNvPr id="32" name="Text 19"/>
          <p:cNvSpPr txBox="1"/>
          <p:nvPr/>
        </p:nvSpPr>
        <p:spPr>
          <a:xfrm>
            <a:off x="10332720" y="6528816"/>
            <a:ext cx="1371600" cy="256032"/>
          </a:xfrm>
          <a:prstGeom prst="rect">
            <a:avLst/>
          </a:prstGeom>
          <a:noFill/>
          <a:ln/>
        </p:spPr>
        <p:txBody>
          <a:bodyPr wrap="square" lIns="0" tIns="0" rIns="0" bIns="0" rtlCol="0" anchor="ctr"/>
          <a:lstStyle/>
          <a:p>
            <a:pPr marL="0" indent="0" algn="r">
              <a:buNone/>
            </a:pPr>
            <a:r>
              <a:rPr lang="en-US" sz="800" b="1" dirty="0">
                <a:solidFill>
                  <a:srgbClr val="E53935"/>
                </a:solidFill>
                <a:latin typeface="Arial" pitchFamily="34" charset="0"/>
                <a:ea typeface="Arial" pitchFamily="34" charset="-122"/>
                <a:cs typeface="Arial" pitchFamily="34" charset="-120"/>
              </a:rPr>
              <a:t>03</a:t>
            </a:r>
            <a:r>
              <a:rPr lang="en-US" sz="800" dirty="0">
                <a:solidFill>
                  <a:srgbClr val="6B6B67"/>
                </a:solidFill>
                <a:latin typeface="Arial" pitchFamily="34" charset="0"/>
                <a:ea typeface="Arial" pitchFamily="34" charset="-122"/>
                <a:cs typeface="Arial" pitchFamily="34" charset="-120"/>
              </a:rPr>
              <a:t> / 08</a:t>
            </a:r>
            <a:endParaRPr lang="en-US" sz="800"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4EE"/>
        </a:solidFill>
        <a:effectLst/>
      </p:bgPr>
    </p:bg>
    <p:spTree>
      <p:nvGrpSpPr>
        <p:cNvPr id="1" name=""/>
        <p:cNvGrpSpPr/>
        <p:nvPr/>
      </p:nvGrpSpPr>
      <p:grpSpPr>
        <a:xfrm>
          <a:off x="0" y="0"/>
          <a:ext cx="0" cy="0"/>
          <a:chOff x="0" y="0"/>
          <a:chExt cx="0" cy="0"/>
        </a:xfrm>
      </p:grpSpPr>
      <p:pic>
        <p:nvPicPr>
          <p:cNvPr id="2" name="Image 0" descr="C:\Users\Vikas\AppData\Local\Temp\claude\e--odoo-hackathon\d02bcbed-ac2c-44f2-a729-2f1ea408498c\scratchpad\ppt\out\basketball_lines.png"/>
          <p:cNvPicPr>
            <a:picLocks noChangeAspect="1"/>
          </p:cNvPicPr>
          <p:nvPr/>
        </p:nvPicPr>
        <p:blipFill>
          <a:blip r:embed="rId3">
            <a:alphaModFix amt="7000"/>
          </a:blip>
          <a:stretch>
            <a:fillRect/>
          </a:stretch>
        </p:blipFill>
        <p:spPr>
          <a:xfrm>
            <a:off x="822960" y="1417320"/>
            <a:ext cx="10515600" cy="4023360"/>
          </a:xfrm>
          <a:prstGeom prst="rect">
            <a:avLst/>
          </a:prstGeom>
        </p:spPr>
      </p:pic>
      <p:pic>
        <p:nvPicPr>
          <p:cNvPr id="3" name="Image 1" descr="C:\Users\Vikas\AppData\Local\Temp\claude\e--odoo-hackathon\d02bcbed-ac2c-44f2-a729-2f1ea408498c\scratchpad\ppt\out\basketball_red.png"/>
          <p:cNvPicPr>
            <a:picLocks noChangeAspect="1"/>
          </p:cNvPicPr>
          <p:nvPr/>
        </p:nvPicPr>
        <p:blipFill>
          <a:blip r:embed="rId4">
            <a:alphaModFix amt="92000"/>
          </a:blip>
          <a:stretch>
            <a:fillRect/>
          </a:stretch>
        </p:blipFill>
        <p:spPr>
          <a:xfrm rot="-600000">
            <a:off x="11593886" y="5787446"/>
            <a:ext cx="914400" cy="914400"/>
          </a:xfrm>
          <a:prstGeom prst="rect">
            <a:avLst/>
          </a:prstGeom>
        </p:spPr>
      </p:pic>
      <p:pic>
        <p:nvPicPr>
          <p:cNvPr id="4" name="Image 2" descr="C:\Users\Vikas\AppData\Local\Temp\claude\e--odoo-hackathon\d02bcbed-ac2c-44f2-a729-2f1ea408498c\scratchpad\ppt\out\football_ink.png"/>
          <p:cNvPicPr>
            <a:picLocks noChangeAspect="1"/>
          </p:cNvPicPr>
          <p:nvPr/>
        </p:nvPicPr>
        <p:blipFill>
          <a:blip r:embed="rId5">
            <a:alphaModFix amt="92000"/>
          </a:blip>
          <a:stretch>
            <a:fillRect/>
          </a:stretch>
        </p:blipFill>
        <p:spPr>
          <a:xfrm>
            <a:off x="-274320" y="-251460"/>
            <a:ext cx="868680" cy="868680"/>
          </a:xfrm>
          <a:prstGeom prst="rect">
            <a:avLst/>
          </a:prstGeom>
        </p:spPr>
      </p:pic>
      <p:sp>
        <p:nvSpPr>
          <p:cNvPr id="5" name="Text 0"/>
          <p:cNvSpPr txBox="1"/>
          <p:nvPr/>
        </p:nvSpPr>
        <p:spPr>
          <a:xfrm>
            <a:off x="548640" y="411480"/>
            <a:ext cx="5486400" cy="292608"/>
          </a:xfrm>
          <a:prstGeom prst="rect">
            <a:avLst/>
          </a:prstGeom>
          <a:noFill/>
          <a:ln/>
        </p:spPr>
        <p:txBody>
          <a:bodyPr wrap="square" lIns="0" tIns="0" rIns="0" bIns="0" rtlCol="0" anchor="ctr"/>
          <a:lstStyle/>
          <a:p>
            <a:pPr marL="0" indent="0">
              <a:buNone/>
            </a:pPr>
            <a:r>
              <a:rPr lang="en-US" sz="1100" b="1" kern="0" spc="200" dirty="0">
                <a:solidFill>
                  <a:srgbClr val="6B6B67"/>
                </a:solidFill>
                <a:latin typeface="Arial" pitchFamily="34" charset="0"/>
                <a:ea typeface="Arial" pitchFamily="34" charset="-122"/>
                <a:cs typeface="Arial" pitchFamily="34" charset="-120"/>
              </a:rPr>
              <a:t>FEASIBILITY &amp; VIABILITY</a:t>
            </a:r>
            <a:endParaRPr lang="en-US" sz="1100" dirty="0"/>
          </a:p>
        </p:txBody>
      </p:sp>
      <p:sp>
        <p:nvSpPr>
          <p:cNvPr id="6" name="Text 1"/>
          <p:cNvSpPr txBox="1"/>
          <p:nvPr/>
        </p:nvSpPr>
        <p:spPr>
          <a:xfrm>
            <a:off x="502920" y="658368"/>
            <a:ext cx="9144000" cy="640080"/>
          </a:xfrm>
          <a:prstGeom prst="rect">
            <a:avLst/>
          </a:prstGeom>
          <a:noFill/>
          <a:ln/>
        </p:spPr>
        <p:txBody>
          <a:bodyPr wrap="square" lIns="0" tIns="0" rIns="0" bIns="0" rtlCol="0" anchor="ctr"/>
          <a:lstStyle/>
          <a:p>
            <a:pPr marL="0" indent="0">
              <a:buNone/>
            </a:pPr>
            <a:r>
              <a:rPr lang="en-US" sz="3200" b="1" dirty="0">
                <a:solidFill>
                  <a:srgbClr val="111111"/>
                </a:solidFill>
                <a:latin typeface="Arial" pitchFamily="34" charset="0"/>
                <a:ea typeface="Arial" pitchFamily="34" charset="-122"/>
                <a:cs typeface="Arial" pitchFamily="34" charset="-120"/>
              </a:rPr>
              <a:t>THE GAME PLAN</a:t>
            </a:r>
            <a:endParaRPr lang="en-US" sz="3200" dirty="0"/>
          </a:p>
        </p:txBody>
      </p:sp>
      <p:sp>
        <p:nvSpPr>
          <p:cNvPr id="7" name="Shape 2"/>
          <p:cNvSpPr/>
          <p:nvPr/>
        </p:nvSpPr>
        <p:spPr>
          <a:xfrm>
            <a:off x="594360" y="1783080"/>
            <a:ext cx="2651760" cy="3566160"/>
          </a:xfrm>
          <a:prstGeom prst="roundRect">
            <a:avLst>
              <a:gd name="adj" fmla="val 2414"/>
            </a:avLst>
          </a:prstGeom>
          <a:solidFill>
            <a:srgbClr val="FFFFFF"/>
          </a:solidFill>
          <a:ln w="9525">
            <a:solidFill>
              <a:srgbClr val="C9C6BE"/>
            </a:solidFill>
            <a:prstDash val="solid"/>
          </a:ln>
          <a:effectLst>
            <a:outerShdw blurRad="101600" dist="38100" dir="5400000" algn="bl" rotWithShape="0">
              <a:srgbClr val="000000">
                <a:alpha val="15000"/>
              </a:srgbClr>
            </a:outerShdw>
          </a:effectLst>
        </p:spPr>
      </p:sp>
      <p:sp>
        <p:nvSpPr>
          <p:cNvPr id="8" name="Text 3"/>
          <p:cNvSpPr txBox="1"/>
          <p:nvPr/>
        </p:nvSpPr>
        <p:spPr>
          <a:xfrm>
            <a:off x="822960" y="1965960"/>
            <a:ext cx="914400" cy="365760"/>
          </a:xfrm>
          <a:prstGeom prst="rect">
            <a:avLst/>
          </a:prstGeom>
          <a:noFill/>
          <a:ln/>
        </p:spPr>
        <p:txBody>
          <a:bodyPr wrap="square" lIns="0" tIns="0" rIns="0" bIns="0" rtlCol="0" anchor="ctr"/>
          <a:lstStyle/>
          <a:p>
            <a:pPr marL="0" indent="0">
              <a:buNone/>
            </a:pPr>
            <a:r>
              <a:rPr lang="en-US" sz="1800" b="1" dirty="0">
                <a:solidFill>
                  <a:srgbClr val="C9C6BE"/>
                </a:solidFill>
                <a:latin typeface="Arial" pitchFamily="34" charset="0"/>
                <a:ea typeface="Arial" pitchFamily="34" charset="-122"/>
                <a:cs typeface="Arial" pitchFamily="34" charset="-120"/>
              </a:rPr>
              <a:t>01</a:t>
            </a:r>
            <a:endParaRPr lang="en-US" sz="1800" dirty="0"/>
          </a:p>
        </p:txBody>
      </p:sp>
      <p:sp>
        <p:nvSpPr>
          <p:cNvPr id="9" name="Text 4"/>
          <p:cNvSpPr txBox="1"/>
          <p:nvPr/>
        </p:nvSpPr>
        <p:spPr>
          <a:xfrm>
            <a:off x="822960" y="2423160"/>
            <a:ext cx="2194560" cy="548640"/>
          </a:xfrm>
          <a:prstGeom prst="rect">
            <a:avLst/>
          </a:prstGeom>
          <a:noFill/>
          <a:ln/>
        </p:spPr>
        <p:txBody>
          <a:bodyPr wrap="square" lIns="0" tIns="0" rIns="0" bIns="0" rtlCol="0" anchor="ctr"/>
          <a:lstStyle/>
          <a:p>
            <a:pPr marL="0" indent="0">
              <a:buNone/>
            </a:pPr>
            <a:r>
              <a:rPr lang="en-US" sz="1500" b="1" kern="0" spc="50" dirty="0">
                <a:solidFill>
                  <a:srgbClr val="E53935"/>
                </a:solidFill>
                <a:latin typeface="Arial" pitchFamily="34" charset="0"/>
                <a:ea typeface="Arial" pitchFamily="34" charset="-122"/>
                <a:cs typeface="Arial" pitchFamily="34" charset="-120"/>
              </a:rPr>
              <a:t>TECHNICAL</a:t>
            </a:r>
            <a:endParaRPr lang="en-US" sz="1500" dirty="0"/>
          </a:p>
        </p:txBody>
      </p:sp>
      <p:sp>
        <p:nvSpPr>
          <p:cNvPr id="10" name="Text 5"/>
          <p:cNvSpPr txBox="1"/>
          <p:nvPr/>
        </p:nvSpPr>
        <p:spPr>
          <a:xfrm>
            <a:off x="822960" y="3063240"/>
            <a:ext cx="2194560" cy="2103120"/>
          </a:xfrm>
          <a:prstGeom prst="rect">
            <a:avLst/>
          </a:prstGeom>
          <a:noFill/>
          <a:ln/>
        </p:spPr>
        <p:txBody>
          <a:bodyPr wrap="square" lIns="0" tIns="0" rIns="0" bIns="0" rtlCol="0" anchor="ctr"/>
          <a:lstStyle/>
          <a:p>
            <a:pPr marL="0" indent="0">
              <a:lnSpc>
                <a:spcPct val="120000"/>
              </a:lnSpc>
              <a:buNone/>
            </a:pPr>
            <a:r>
              <a:rPr lang="en-US" sz="1100" dirty="0">
                <a:solidFill>
                  <a:srgbClr val="111111"/>
                </a:solidFill>
                <a:latin typeface="Arial" pitchFamily="34" charset="0"/>
                <a:ea typeface="Arial" pitchFamily="34" charset="-122"/>
                <a:cs typeface="Arial" pitchFamily="34" charset="-120"/>
              </a:rPr>
              <a:t>Proven, minimal stack (Express + SQLite) keeps build risk low.</a:t>
            </a:r>
            <a:endParaRPr lang="en-US" sz="1100" dirty="0"/>
          </a:p>
        </p:txBody>
      </p:sp>
      <p:sp>
        <p:nvSpPr>
          <p:cNvPr id="11" name="Shape 6"/>
          <p:cNvSpPr/>
          <p:nvPr/>
        </p:nvSpPr>
        <p:spPr>
          <a:xfrm>
            <a:off x="3429000" y="1783080"/>
            <a:ext cx="2651760" cy="3566160"/>
          </a:xfrm>
          <a:prstGeom prst="roundRect">
            <a:avLst>
              <a:gd name="adj" fmla="val 2414"/>
            </a:avLst>
          </a:prstGeom>
          <a:solidFill>
            <a:srgbClr val="FFFFFF"/>
          </a:solidFill>
          <a:ln w="9525">
            <a:solidFill>
              <a:srgbClr val="C9C6BE"/>
            </a:solidFill>
            <a:prstDash val="solid"/>
          </a:ln>
          <a:effectLst>
            <a:outerShdw blurRad="101600" dist="38100" dir="5400000" algn="bl" rotWithShape="0">
              <a:srgbClr val="000000">
                <a:alpha val="15000"/>
              </a:srgbClr>
            </a:outerShdw>
          </a:effectLst>
        </p:spPr>
      </p:sp>
      <p:sp>
        <p:nvSpPr>
          <p:cNvPr id="12" name="Text 7"/>
          <p:cNvSpPr txBox="1"/>
          <p:nvPr/>
        </p:nvSpPr>
        <p:spPr>
          <a:xfrm>
            <a:off x="3657600" y="1965960"/>
            <a:ext cx="914400" cy="365760"/>
          </a:xfrm>
          <a:prstGeom prst="rect">
            <a:avLst/>
          </a:prstGeom>
          <a:noFill/>
          <a:ln/>
        </p:spPr>
        <p:txBody>
          <a:bodyPr wrap="square" lIns="0" tIns="0" rIns="0" bIns="0" rtlCol="0" anchor="ctr"/>
          <a:lstStyle/>
          <a:p>
            <a:pPr marL="0" indent="0">
              <a:buNone/>
            </a:pPr>
            <a:r>
              <a:rPr lang="en-US" sz="1800" b="1" dirty="0">
                <a:solidFill>
                  <a:srgbClr val="C9C6BE"/>
                </a:solidFill>
                <a:latin typeface="Arial" pitchFamily="34" charset="0"/>
                <a:ea typeface="Arial" pitchFamily="34" charset="-122"/>
                <a:cs typeface="Arial" pitchFamily="34" charset="-120"/>
              </a:rPr>
              <a:t>02</a:t>
            </a:r>
            <a:endParaRPr lang="en-US" sz="1800" dirty="0"/>
          </a:p>
        </p:txBody>
      </p:sp>
      <p:sp>
        <p:nvSpPr>
          <p:cNvPr id="13" name="Text 8"/>
          <p:cNvSpPr txBox="1"/>
          <p:nvPr/>
        </p:nvSpPr>
        <p:spPr>
          <a:xfrm>
            <a:off x="3657600" y="2423160"/>
            <a:ext cx="2194560" cy="548640"/>
          </a:xfrm>
          <a:prstGeom prst="rect">
            <a:avLst/>
          </a:prstGeom>
          <a:noFill/>
          <a:ln/>
        </p:spPr>
        <p:txBody>
          <a:bodyPr wrap="square" lIns="0" tIns="0" rIns="0" bIns="0" rtlCol="0" anchor="ctr"/>
          <a:lstStyle/>
          <a:p>
            <a:pPr marL="0" indent="0">
              <a:buNone/>
            </a:pPr>
            <a:r>
              <a:rPr lang="en-US" sz="1500" b="1" kern="0" spc="50" dirty="0">
                <a:solidFill>
                  <a:srgbClr val="E53935"/>
                </a:solidFill>
                <a:latin typeface="Arial" pitchFamily="34" charset="0"/>
                <a:ea typeface="Arial" pitchFamily="34" charset="-122"/>
                <a:cs typeface="Arial" pitchFamily="34" charset="-120"/>
              </a:rPr>
              <a:t>OPERATIONAL</a:t>
            </a:r>
            <a:endParaRPr lang="en-US" sz="1500" dirty="0"/>
          </a:p>
        </p:txBody>
      </p:sp>
      <p:sp>
        <p:nvSpPr>
          <p:cNvPr id="14" name="Text 9"/>
          <p:cNvSpPr txBox="1"/>
          <p:nvPr/>
        </p:nvSpPr>
        <p:spPr>
          <a:xfrm>
            <a:off x="3657600" y="3063240"/>
            <a:ext cx="2194560" cy="2103120"/>
          </a:xfrm>
          <a:prstGeom prst="rect">
            <a:avLst/>
          </a:prstGeom>
          <a:noFill/>
          <a:ln/>
        </p:spPr>
        <p:txBody>
          <a:bodyPr wrap="square" lIns="0" tIns="0" rIns="0" bIns="0" rtlCol="0" anchor="ctr"/>
          <a:lstStyle/>
          <a:p>
            <a:pPr marL="0" indent="0">
              <a:lnSpc>
                <a:spcPct val="120000"/>
              </a:lnSpc>
              <a:buNone/>
            </a:pPr>
            <a:r>
              <a:rPr lang="en-US" sz="1100" dirty="0">
                <a:solidFill>
                  <a:srgbClr val="111111"/>
                </a:solidFill>
                <a:latin typeface="Arial" pitchFamily="34" charset="0"/>
                <a:ea typeface="Arial" pitchFamily="34" charset="-122"/>
                <a:cs typeface="Arial" pitchFamily="34" charset="-120"/>
              </a:rPr>
              <a:t>Single-server deploy; no external services to manage for MVP.</a:t>
            </a:r>
            <a:endParaRPr lang="en-US" sz="1100" dirty="0"/>
          </a:p>
        </p:txBody>
      </p:sp>
      <p:sp>
        <p:nvSpPr>
          <p:cNvPr id="15" name="Shape 10"/>
          <p:cNvSpPr/>
          <p:nvPr/>
        </p:nvSpPr>
        <p:spPr>
          <a:xfrm>
            <a:off x="6263640" y="1783080"/>
            <a:ext cx="2651760" cy="3566160"/>
          </a:xfrm>
          <a:prstGeom prst="roundRect">
            <a:avLst>
              <a:gd name="adj" fmla="val 2414"/>
            </a:avLst>
          </a:prstGeom>
          <a:solidFill>
            <a:srgbClr val="FFFFFF"/>
          </a:solidFill>
          <a:ln w="9525">
            <a:solidFill>
              <a:srgbClr val="C9C6BE"/>
            </a:solidFill>
            <a:prstDash val="solid"/>
          </a:ln>
          <a:effectLst>
            <a:outerShdw blurRad="101600" dist="38100" dir="5400000" algn="bl" rotWithShape="0">
              <a:srgbClr val="000000">
                <a:alpha val="15000"/>
              </a:srgbClr>
            </a:outerShdw>
          </a:effectLst>
        </p:spPr>
      </p:sp>
      <p:sp>
        <p:nvSpPr>
          <p:cNvPr id="16" name="Text 11"/>
          <p:cNvSpPr txBox="1"/>
          <p:nvPr/>
        </p:nvSpPr>
        <p:spPr>
          <a:xfrm>
            <a:off x="6492240" y="1965960"/>
            <a:ext cx="914400" cy="365760"/>
          </a:xfrm>
          <a:prstGeom prst="rect">
            <a:avLst/>
          </a:prstGeom>
          <a:noFill/>
          <a:ln/>
        </p:spPr>
        <p:txBody>
          <a:bodyPr wrap="square" lIns="0" tIns="0" rIns="0" bIns="0" rtlCol="0" anchor="ctr"/>
          <a:lstStyle/>
          <a:p>
            <a:pPr marL="0" indent="0">
              <a:buNone/>
            </a:pPr>
            <a:r>
              <a:rPr lang="en-US" sz="1800" b="1" dirty="0">
                <a:solidFill>
                  <a:srgbClr val="C9C6BE"/>
                </a:solidFill>
                <a:latin typeface="Arial" pitchFamily="34" charset="0"/>
                <a:ea typeface="Arial" pitchFamily="34" charset="-122"/>
                <a:cs typeface="Arial" pitchFamily="34" charset="-120"/>
              </a:rPr>
              <a:t>03</a:t>
            </a:r>
            <a:endParaRPr lang="en-US" sz="1800" dirty="0"/>
          </a:p>
        </p:txBody>
      </p:sp>
      <p:sp>
        <p:nvSpPr>
          <p:cNvPr id="17" name="Text 12"/>
          <p:cNvSpPr txBox="1"/>
          <p:nvPr/>
        </p:nvSpPr>
        <p:spPr>
          <a:xfrm>
            <a:off x="6492240" y="2423160"/>
            <a:ext cx="2194560" cy="548640"/>
          </a:xfrm>
          <a:prstGeom prst="rect">
            <a:avLst/>
          </a:prstGeom>
          <a:noFill/>
          <a:ln/>
        </p:spPr>
        <p:txBody>
          <a:bodyPr wrap="square" lIns="0" tIns="0" rIns="0" bIns="0" rtlCol="0" anchor="ctr"/>
          <a:lstStyle/>
          <a:p>
            <a:pPr marL="0" indent="0">
              <a:buNone/>
            </a:pPr>
            <a:r>
              <a:rPr lang="en-US" sz="1500" b="1" kern="0" spc="50" dirty="0">
                <a:solidFill>
                  <a:srgbClr val="E53935"/>
                </a:solidFill>
                <a:latin typeface="Arial" pitchFamily="34" charset="0"/>
                <a:ea typeface="Arial" pitchFamily="34" charset="-122"/>
                <a:cs typeface="Arial" pitchFamily="34" charset="-120"/>
              </a:rPr>
              <a:t>BUSINESS</a:t>
            </a:r>
            <a:endParaRPr lang="en-US" sz="1500" dirty="0"/>
          </a:p>
        </p:txBody>
      </p:sp>
      <p:sp>
        <p:nvSpPr>
          <p:cNvPr id="18" name="Text 13"/>
          <p:cNvSpPr txBox="1"/>
          <p:nvPr/>
        </p:nvSpPr>
        <p:spPr>
          <a:xfrm>
            <a:off x="6492240" y="3063240"/>
            <a:ext cx="2194560" cy="2103120"/>
          </a:xfrm>
          <a:prstGeom prst="rect">
            <a:avLst/>
          </a:prstGeom>
          <a:noFill/>
          <a:ln/>
        </p:spPr>
        <p:txBody>
          <a:bodyPr wrap="square" lIns="0" tIns="0" rIns="0" bIns="0" rtlCol="0" anchor="ctr"/>
          <a:lstStyle/>
          <a:p>
            <a:pPr marL="0" indent="0">
              <a:lnSpc>
                <a:spcPct val="120000"/>
              </a:lnSpc>
              <a:buNone/>
            </a:pPr>
            <a:r>
              <a:rPr lang="en-US" sz="1100" dirty="0">
                <a:solidFill>
                  <a:srgbClr val="111111"/>
                </a:solidFill>
                <a:latin typeface="Arial" pitchFamily="34" charset="0"/>
                <a:ea typeface="Arial" pitchFamily="34" charset="-122"/>
                <a:cs typeface="Arial" pitchFamily="34" charset="-120"/>
              </a:rPr>
              <a:t>Low infra cost; commission-ready booking flow from day one.</a:t>
            </a:r>
            <a:endParaRPr lang="en-US" sz="1100" dirty="0"/>
          </a:p>
        </p:txBody>
      </p:sp>
      <p:sp>
        <p:nvSpPr>
          <p:cNvPr id="19" name="Shape 14"/>
          <p:cNvSpPr/>
          <p:nvPr/>
        </p:nvSpPr>
        <p:spPr>
          <a:xfrm>
            <a:off x="9098280" y="1783080"/>
            <a:ext cx="2651760" cy="3566160"/>
          </a:xfrm>
          <a:prstGeom prst="roundRect">
            <a:avLst>
              <a:gd name="adj" fmla="val 2414"/>
            </a:avLst>
          </a:prstGeom>
          <a:solidFill>
            <a:srgbClr val="FFFFFF"/>
          </a:solidFill>
          <a:ln w="9525">
            <a:solidFill>
              <a:srgbClr val="C9C6BE"/>
            </a:solidFill>
            <a:prstDash val="solid"/>
          </a:ln>
          <a:effectLst>
            <a:outerShdw blurRad="101600" dist="38100" dir="5400000" algn="bl" rotWithShape="0">
              <a:srgbClr val="000000">
                <a:alpha val="15000"/>
              </a:srgbClr>
            </a:outerShdw>
          </a:effectLst>
        </p:spPr>
      </p:sp>
      <p:sp>
        <p:nvSpPr>
          <p:cNvPr id="20" name="Text 15"/>
          <p:cNvSpPr txBox="1"/>
          <p:nvPr/>
        </p:nvSpPr>
        <p:spPr>
          <a:xfrm>
            <a:off x="9326880" y="1965960"/>
            <a:ext cx="914400" cy="365760"/>
          </a:xfrm>
          <a:prstGeom prst="rect">
            <a:avLst/>
          </a:prstGeom>
          <a:noFill/>
          <a:ln/>
        </p:spPr>
        <p:txBody>
          <a:bodyPr wrap="square" lIns="0" tIns="0" rIns="0" bIns="0" rtlCol="0" anchor="ctr"/>
          <a:lstStyle/>
          <a:p>
            <a:pPr marL="0" indent="0">
              <a:buNone/>
            </a:pPr>
            <a:r>
              <a:rPr lang="en-US" sz="1800" b="1" dirty="0">
                <a:solidFill>
                  <a:srgbClr val="C9C6BE"/>
                </a:solidFill>
                <a:latin typeface="Arial" pitchFamily="34" charset="0"/>
                <a:ea typeface="Arial" pitchFamily="34" charset="-122"/>
                <a:cs typeface="Arial" pitchFamily="34" charset="-120"/>
              </a:rPr>
              <a:t>04</a:t>
            </a:r>
            <a:endParaRPr lang="en-US" sz="1800" dirty="0"/>
          </a:p>
        </p:txBody>
      </p:sp>
      <p:sp>
        <p:nvSpPr>
          <p:cNvPr id="21" name="Text 16"/>
          <p:cNvSpPr txBox="1"/>
          <p:nvPr/>
        </p:nvSpPr>
        <p:spPr>
          <a:xfrm>
            <a:off x="9326880" y="2423160"/>
            <a:ext cx="2194560" cy="548640"/>
          </a:xfrm>
          <a:prstGeom prst="rect">
            <a:avLst/>
          </a:prstGeom>
          <a:noFill/>
          <a:ln/>
        </p:spPr>
        <p:txBody>
          <a:bodyPr wrap="square" lIns="0" tIns="0" rIns="0" bIns="0" rtlCol="0" anchor="ctr"/>
          <a:lstStyle/>
          <a:p>
            <a:pPr marL="0" indent="0">
              <a:buNone/>
            </a:pPr>
            <a:r>
              <a:rPr lang="en-US" sz="1500" b="1" kern="0" spc="50" dirty="0">
                <a:solidFill>
                  <a:srgbClr val="E53935"/>
                </a:solidFill>
                <a:latin typeface="Arial" pitchFamily="34" charset="0"/>
                <a:ea typeface="Arial" pitchFamily="34" charset="-122"/>
                <a:cs typeface="Arial" pitchFamily="34" charset="-120"/>
              </a:rPr>
              <a:t>SCALABILITY</a:t>
            </a:r>
            <a:endParaRPr lang="en-US" sz="1500" dirty="0"/>
          </a:p>
        </p:txBody>
      </p:sp>
      <p:sp>
        <p:nvSpPr>
          <p:cNvPr id="22" name="Text 17"/>
          <p:cNvSpPr txBox="1"/>
          <p:nvPr/>
        </p:nvSpPr>
        <p:spPr>
          <a:xfrm>
            <a:off x="9326880" y="3063240"/>
            <a:ext cx="2194560" cy="2103120"/>
          </a:xfrm>
          <a:prstGeom prst="rect">
            <a:avLst/>
          </a:prstGeom>
          <a:noFill/>
          <a:ln/>
        </p:spPr>
        <p:txBody>
          <a:bodyPr wrap="square" lIns="0" tIns="0" rIns="0" bIns="0" rtlCol="0" anchor="ctr"/>
          <a:lstStyle/>
          <a:p>
            <a:pPr marL="0" indent="0">
              <a:lnSpc>
                <a:spcPct val="120000"/>
              </a:lnSpc>
              <a:buNone/>
            </a:pPr>
            <a:r>
              <a:rPr lang="en-US" sz="1100" dirty="0">
                <a:solidFill>
                  <a:srgbClr val="111111"/>
                </a:solidFill>
                <a:latin typeface="Arial" pitchFamily="34" charset="0"/>
                <a:ea typeface="Arial" pitchFamily="34" charset="-122"/>
                <a:cs typeface="Arial" pitchFamily="34" charset="-120"/>
              </a:rPr>
              <a:t>Clear upgrade path from SQLite to production-grade services.</a:t>
            </a:r>
            <a:endParaRPr lang="en-US" sz="1100" dirty="0"/>
          </a:p>
        </p:txBody>
      </p:sp>
      <p:sp>
        <p:nvSpPr>
          <p:cNvPr id="23" name="Text 18"/>
          <p:cNvSpPr txBox="1"/>
          <p:nvPr/>
        </p:nvSpPr>
        <p:spPr>
          <a:xfrm>
            <a:off x="594360" y="5806440"/>
            <a:ext cx="7315200" cy="365760"/>
          </a:xfrm>
          <a:prstGeom prst="rect">
            <a:avLst/>
          </a:prstGeom>
          <a:noFill/>
          <a:ln/>
        </p:spPr>
        <p:txBody>
          <a:bodyPr wrap="square" lIns="0" tIns="0" rIns="0" bIns="0" rtlCol="0" anchor="ctr"/>
          <a:lstStyle/>
          <a:p>
            <a:pPr marL="0" indent="0">
              <a:buNone/>
            </a:pPr>
            <a:r>
              <a:rPr lang="en-US" sz="1500" b="1" kern="0" spc="100" dirty="0">
                <a:solidFill>
                  <a:srgbClr val="111111"/>
                </a:solidFill>
                <a:latin typeface="Arial" pitchFamily="34" charset="0"/>
                <a:ea typeface="Arial" pitchFamily="34" charset="-122"/>
                <a:cs typeface="Arial" pitchFamily="34" charset="-120"/>
              </a:rPr>
              <a:t>MVP </a:t>
            </a:r>
            <a:r>
              <a:rPr lang="en-US" sz="1500" b="1" kern="0" spc="100" dirty="0">
                <a:solidFill>
                  <a:srgbClr val="E53935"/>
                </a:solidFill>
                <a:latin typeface="Arial" pitchFamily="34" charset="0"/>
                <a:ea typeface="Arial" pitchFamily="34" charset="-122"/>
                <a:cs typeface="Arial" pitchFamily="34" charset="-120"/>
              </a:rPr>
              <a:t>→</a:t>
            </a:r>
            <a:r>
              <a:rPr lang="en-US" sz="1500" b="1" kern="0" spc="100" dirty="0">
                <a:solidFill>
                  <a:srgbClr val="111111"/>
                </a:solidFill>
                <a:latin typeface="Arial" pitchFamily="34" charset="0"/>
                <a:ea typeface="Arial" pitchFamily="34" charset="-122"/>
                <a:cs typeface="Arial" pitchFamily="34" charset="-120"/>
              </a:rPr>
              <a:t>  VALIDATE </a:t>
            </a:r>
            <a:r>
              <a:rPr lang="en-US" sz="1500" b="1" kern="0" spc="100" dirty="0">
                <a:solidFill>
                  <a:srgbClr val="E53935"/>
                </a:solidFill>
                <a:latin typeface="Arial" pitchFamily="34" charset="0"/>
                <a:ea typeface="Arial" pitchFamily="34" charset="-122"/>
                <a:cs typeface="Arial" pitchFamily="34" charset="-120"/>
              </a:rPr>
              <a:t>→</a:t>
            </a:r>
            <a:r>
              <a:rPr lang="en-US" sz="1500" b="1" kern="0" spc="100" dirty="0">
                <a:solidFill>
                  <a:srgbClr val="111111"/>
                </a:solidFill>
                <a:latin typeface="Arial" pitchFamily="34" charset="0"/>
                <a:ea typeface="Arial" pitchFamily="34" charset="-122"/>
                <a:cs typeface="Arial" pitchFamily="34" charset="-120"/>
              </a:rPr>
              <a:t>  SCALE</a:t>
            </a:r>
            <a:endParaRPr lang="en-US" sz="1500" dirty="0"/>
          </a:p>
        </p:txBody>
      </p:sp>
      <p:sp>
        <p:nvSpPr>
          <p:cNvPr id="24" name="Text 19"/>
          <p:cNvSpPr txBox="1"/>
          <p:nvPr/>
        </p:nvSpPr>
        <p:spPr>
          <a:xfrm>
            <a:off x="457200" y="6528816"/>
            <a:ext cx="2743200" cy="256032"/>
          </a:xfrm>
          <a:prstGeom prst="rect">
            <a:avLst/>
          </a:prstGeom>
          <a:noFill/>
          <a:ln/>
        </p:spPr>
        <p:txBody>
          <a:bodyPr wrap="square" lIns="0" tIns="0" rIns="0" bIns="0" rtlCol="0" anchor="ctr"/>
          <a:lstStyle/>
          <a:p>
            <a:pPr marL="0" indent="0">
              <a:buNone/>
            </a:pPr>
            <a:r>
              <a:rPr lang="en-US" sz="800" dirty="0">
                <a:solidFill>
                  <a:srgbClr val="6B6B67"/>
                </a:solidFill>
                <a:latin typeface="Arial" pitchFamily="34" charset="0"/>
                <a:ea typeface="Arial" pitchFamily="34" charset="-122"/>
                <a:cs typeface="Arial" pitchFamily="34" charset="-120"/>
              </a:rPr>
              <a:t>QUICKCOURT / 2026</a:t>
            </a:r>
            <a:endParaRPr lang="en-US" sz="800" dirty="0"/>
          </a:p>
        </p:txBody>
      </p:sp>
      <p:sp>
        <p:nvSpPr>
          <p:cNvPr id="25" name="Text 20"/>
          <p:cNvSpPr txBox="1"/>
          <p:nvPr/>
        </p:nvSpPr>
        <p:spPr>
          <a:xfrm>
            <a:off x="4480560" y="6528816"/>
            <a:ext cx="3200400" cy="256032"/>
          </a:xfrm>
          <a:prstGeom prst="rect">
            <a:avLst/>
          </a:prstGeom>
          <a:noFill/>
          <a:ln/>
        </p:spPr>
        <p:txBody>
          <a:bodyPr wrap="square" lIns="0" tIns="0" rIns="0" bIns="0" rtlCol="0" anchor="ctr"/>
          <a:lstStyle/>
          <a:p>
            <a:pPr marL="0" indent="0" algn="ctr">
              <a:buNone/>
            </a:pPr>
            <a:r>
              <a:rPr lang="en-US" sz="800" kern="0" spc="200" dirty="0">
                <a:solidFill>
                  <a:srgbClr val="6B6B67"/>
                </a:solidFill>
                <a:latin typeface="Arial" pitchFamily="34" charset="0"/>
                <a:ea typeface="Arial" pitchFamily="34" charset="-122"/>
                <a:cs typeface="Arial" pitchFamily="34" charset="-120"/>
              </a:rPr>
              <a:t>STRATEGY</a:t>
            </a:r>
            <a:endParaRPr lang="en-US" sz="800" dirty="0"/>
          </a:p>
        </p:txBody>
      </p:sp>
      <p:sp>
        <p:nvSpPr>
          <p:cNvPr id="26" name="Text 21"/>
          <p:cNvSpPr txBox="1"/>
          <p:nvPr/>
        </p:nvSpPr>
        <p:spPr>
          <a:xfrm>
            <a:off x="10332720" y="6528816"/>
            <a:ext cx="1371600" cy="256032"/>
          </a:xfrm>
          <a:prstGeom prst="rect">
            <a:avLst/>
          </a:prstGeom>
          <a:noFill/>
          <a:ln/>
        </p:spPr>
        <p:txBody>
          <a:bodyPr wrap="square" lIns="0" tIns="0" rIns="0" bIns="0" rtlCol="0" anchor="ctr"/>
          <a:lstStyle/>
          <a:p>
            <a:pPr marL="0" indent="0" algn="r">
              <a:buNone/>
            </a:pPr>
            <a:r>
              <a:rPr lang="en-US" sz="800" b="1" dirty="0">
                <a:solidFill>
                  <a:srgbClr val="E53935"/>
                </a:solidFill>
                <a:latin typeface="Arial" pitchFamily="34" charset="0"/>
                <a:ea typeface="Arial" pitchFamily="34" charset="-122"/>
                <a:cs typeface="Arial" pitchFamily="34" charset="-120"/>
              </a:rPr>
              <a:t>04</a:t>
            </a:r>
            <a:r>
              <a:rPr lang="en-US" sz="800" dirty="0">
                <a:solidFill>
                  <a:srgbClr val="6B6B67"/>
                </a:solidFill>
                <a:latin typeface="Arial" pitchFamily="34" charset="0"/>
                <a:ea typeface="Arial" pitchFamily="34" charset="-122"/>
                <a:cs typeface="Arial" pitchFamily="34" charset="-120"/>
              </a:rPr>
              <a:t> / 08</a:t>
            </a:r>
            <a:endParaRPr lang="en-US" sz="800"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4EE"/>
        </a:solidFill>
        <a:effectLst/>
      </p:bgPr>
    </p:bg>
    <p:spTree>
      <p:nvGrpSpPr>
        <p:cNvPr id="1" name=""/>
        <p:cNvGrpSpPr/>
        <p:nvPr/>
      </p:nvGrpSpPr>
      <p:grpSpPr>
        <a:xfrm>
          <a:off x="0" y="0"/>
          <a:ext cx="0" cy="0"/>
          <a:chOff x="0" y="0"/>
          <a:chExt cx="0" cy="0"/>
        </a:xfrm>
      </p:grpSpPr>
      <p:pic>
        <p:nvPicPr>
          <p:cNvPr id="2" name="Image 0" descr="C:\Users\Vikas\AppData\Local\Temp\claude\e--odoo-hackathon\d02bcbed-ac2c-44f2-a729-2f1ea408498c\scratchpad\ppt\out\tennis_lines.png"/>
          <p:cNvPicPr>
            <a:picLocks noChangeAspect="1"/>
          </p:cNvPicPr>
          <p:nvPr/>
        </p:nvPicPr>
        <p:blipFill>
          <a:blip r:embed="rId3">
            <a:alphaModFix amt="7000"/>
          </a:blip>
          <a:stretch>
            <a:fillRect/>
          </a:stretch>
        </p:blipFill>
        <p:spPr>
          <a:xfrm>
            <a:off x="-1463040" y="2651760"/>
            <a:ext cx="4389120" cy="2743200"/>
          </a:xfrm>
          <a:prstGeom prst="rect">
            <a:avLst/>
          </a:prstGeom>
        </p:spPr>
      </p:pic>
      <p:pic>
        <p:nvPicPr>
          <p:cNvPr id="3" name="Image 1" descr="C:\Users\Vikas\AppData\Local\Temp\claude\e--odoo-hackathon\d02bcbed-ac2c-44f2-a729-2f1ea408498c\scratchpad\ppt\out\ball_ink.png"/>
          <p:cNvPicPr>
            <a:picLocks noChangeAspect="1"/>
          </p:cNvPicPr>
          <p:nvPr/>
        </p:nvPicPr>
        <p:blipFill>
          <a:blip r:embed="rId4">
            <a:alphaModFix amt="92000"/>
          </a:blip>
          <a:stretch>
            <a:fillRect/>
          </a:stretch>
        </p:blipFill>
        <p:spPr>
          <a:xfrm rot="1500000">
            <a:off x="11320272" y="-119704"/>
            <a:ext cx="1005840" cy="1005840"/>
          </a:xfrm>
          <a:prstGeom prst="rect">
            <a:avLst/>
          </a:prstGeom>
        </p:spPr>
      </p:pic>
      <p:pic>
        <p:nvPicPr>
          <p:cNvPr id="4" name="Image 2" descr="C:\Users\Vikas\AppData\Local\Temp\claude\e--odoo-hackathon\d02bcbed-ac2c-44f2-a729-2f1ea408498c\scratchpad\ppt\out\tennis_racket_ink.png"/>
          <p:cNvPicPr>
            <a:picLocks noChangeAspect="1"/>
          </p:cNvPicPr>
          <p:nvPr/>
        </p:nvPicPr>
        <p:blipFill>
          <a:blip r:embed="rId5">
            <a:alphaModFix amt="92000"/>
          </a:blip>
          <a:stretch>
            <a:fillRect/>
          </a:stretch>
        </p:blipFill>
        <p:spPr>
          <a:xfrm rot="-900000">
            <a:off x="7238355" y="5148072"/>
            <a:ext cx="1005840" cy="2011680"/>
          </a:xfrm>
          <a:prstGeom prst="rect">
            <a:avLst/>
          </a:prstGeom>
        </p:spPr>
      </p:pic>
      <p:sp>
        <p:nvSpPr>
          <p:cNvPr id="5" name="Text 0"/>
          <p:cNvSpPr txBox="1"/>
          <p:nvPr/>
        </p:nvSpPr>
        <p:spPr>
          <a:xfrm>
            <a:off x="548640" y="384048"/>
            <a:ext cx="7315200" cy="292608"/>
          </a:xfrm>
          <a:prstGeom prst="rect">
            <a:avLst/>
          </a:prstGeom>
          <a:noFill/>
          <a:ln/>
        </p:spPr>
        <p:txBody>
          <a:bodyPr wrap="square" lIns="0" tIns="0" rIns="0" bIns="0" rtlCol="0" anchor="ctr"/>
          <a:lstStyle/>
          <a:p>
            <a:pPr marL="0" indent="0">
              <a:buNone/>
            </a:pPr>
            <a:r>
              <a:rPr lang="en-US" sz="1100" b="1" kern="0" spc="200" dirty="0">
                <a:solidFill>
                  <a:srgbClr val="6B6B67"/>
                </a:solidFill>
                <a:latin typeface="Arial" pitchFamily="34" charset="0"/>
                <a:ea typeface="Arial" pitchFamily="34" charset="-122"/>
                <a:cs typeface="Arial" pitchFamily="34" charset="-120"/>
              </a:rPr>
              <a:t>MORE THAN A BOOKING PLATFORM</a:t>
            </a:r>
            <a:endParaRPr lang="en-US" sz="1100" dirty="0"/>
          </a:p>
        </p:txBody>
      </p:sp>
      <p:sp>
        <p:nvSpPr>
          <p:cNvPr id="6" name="Text 1"/>
          <p:cNvSpPr txBox="1"/>
          <p:nvPr/>
        </p:nvSpPr>
        <p:spPr>
          <a:xfrm>
            <a:off x="502920" y="621792"/>
            <a:ext cx="10515600" cy="640080"/>
          </a:xfrm>
          <a:prstGeom prst="rect">
            <a:avLst/>
          </a:prstGeom>
          <a:noFill/>
          <a:ln/>
        </p:spPr>
        <p:txBody>
          <a:bodyPr wrap="square" lIns="0" tIns="0" rIns="0" bIns="0" rtlCol="0" anchor="ctr"/>
          <a:lstStyle/>
          <a:p>
            <a:pPr marL="0" indent="0">
              <a:buNone/>
            </a:pPr>
            <a:r>
              <a:rPr lang="en-US" sz="2600" b="1" dirty="0">
                <a:solidFill>
                  <a:srgbClr val="111111"/>
                </a:solidFill>
                <a:latin typeface="Arial" pitchFamily="34" charset="0"/>
                <a:ea typeface="Arial" pitchFamily="34" charset="-122"/>
                <a:cs typeface="Arial" pitchFamily="34" charset="-120"/>
              </a:rPr>
              <a:t>QUICKCOURT CONNECTS PLACES, PLAYERS AND PLAY.</a:t>
            </a:r>
            <a:endParaRPr lang="en-US" sz="2600" dirty="0"/>
          </a:p>
        </p:txBody>
      </p:sp>
      <p:sp>
        <p:nvSpPr>
          <p:cNvPr id="7" name="Shape 2"/>
          <p:cNvSpPr/>
          <p:nvPr/>
        </p:nvSpPr>
        <p:spPr>
          <a:xfrm>
            <a:off x="548640" y="1508760"/>
            <a:ext cx="3611880" cy="3840480"/>
          </a:xfrm>
          <a:prstGeom prst="roundRect">
            <a:avLst>
              <a:gd name="adj" fmla="val 1772"/>
            </a:avLst>
          </a:prstGeom>
          <a:solidFill>
            <a:srgbClr val="FFFFFF"/>
          </a:solidFill>
          <a:ln w="9525">
            <a:solidFill>
              <a:srgbClr val="C9C6BE"/>
            </a:solidFill>
            <a:prstDash val="solid"/>
          </a:ln>
          <a:effectLst>
            <a:outerShdw blurRad="101600" dist="38100" dir="5400000" algn="bl" rotWithShape="0">
              <a:srgbClr val="000000">
                <a:alpha val="15000"/>
              </a:srgbClr>
            </a:outerShdw>
          </a:effectLst>
        </p:spPr>
      </p:sp>
      <p:pic>
        <p:nvPicPr>
          <p:cNvPr id="8" name="Image 3" descr="C:\Users\Vikas\AppData\Local\Temp\claude\e--odoo-hackathon\d02bcbed-ac2c-44f2-a729-2f1ea408498c\scratchpad\ppt\out\player_ink.png"/>
          <p:cNvPicPr>
            <a:picLocks noChangeAspect="1"/>
          </p:cNvPicPr>
          <p:nvPr/>
        </p:nvPicPr>
        <p:blipFill>
          <a:blip r:embed="rId6"/>
          <a:stretch>
            <a:fillRect/>
          </a:stretch>
        </p:blipFill>
        <p:spPr>
          <a:xfrm>
            <a:off x="804672" y="1764792"/>
            <a:ext cx="502920" cy="502920"/>
          </a:xfrm>
          <a:prstGeom prst="rect">
            <a:avLst/>
          </a:prstGeom>
        </p:spPr>
      </p:pic>
      <p:sp>
        <p:nvSpPr>
          <p:cNvPr id="9" name="Text 3"/>
          <p:cNvSpPr txBox="1"/>
          <p:nvPr/>
        </p:nvSpPr>
        <p:spPr>
          <a:xfrm>
            <a:off x="1417320" y="1783080"/>
            <a:ext cx="2514600" cy="502920"/>
          </a:xfrm>
          <a:prstGeom prst="rect">
            <a:avLst/>
          </a:prstGeom>
          <a:noFill/>
          <a:ln/>
        </p:spPr>
        <p:txBody>
          <a:bodyPr wrap="square" lIns="0" tIns="0" rIns="0" bIns="0" rtlCol="0" anchor="ctr"/>
          <a:lstStyle/>
          <a:p>
            <a:pPr marL="0" indent="0">
              <a:buNone/>
            </a:pPr>
            <a:r>
              <a:rPr lang="en-US" sz="1300" b="1" dirty="0">
                <a:solidFill>
                  <a:srgbClr val="E53935"/>
                </a:solidFill>
                <a:latin typeface="Arial" pitchFamily="34" charset="0"/>
                <a:ea typeface="Arial" pitchFamily="34" charset="-122"/>
                <a:cs typeface="Arial" pitchFamily="34" charset="-120"/>
              </a:rPr>
              <a:t>FOR PLAYERS</a:t>
            </a:r>
            <a:endParaRPr lang="en-US" sz="1300" dirty="0"/>
          </a:p>
        </p:txBody>
      </p:sp>
      <p:sp>
        <p:nvSpPr>
          <p:cNvPr id="10" name="Text 4"/>
          <p:cNvSpPr txBox="1"/>
          <p:nvPr/>
        </p:nvSpPr>
        <p:spPr>
          <a:xfrm>
            <a:off x="804672" y="2468880"/>
            <a:ext cx="3099816" cy="256032"/>
          </a:xfrm>
          <a:prstGeom prst="rect">
            <a:avLst/>
          </a:prstGeom>
          <a:noFill/>
          <a:ln/>
        </p:spPr>
        <p:txBody>
          <a:bodyPr wrap="square" lIns="0" tIns="0" rIns="0" bIns="0" rtlCol="0" anchor="ctr"/>
          <a:lstStyle/>
          <a:p>
            <a:pPr marL="0" indent="0">
              <a:buNone/>
            </a:pPr>
            <a:r>
              <a:rPr lang="en-US" sz="1150" b="1" dirty="0">
                <a:solidFill>
                  <a:srgbClr val="111111"/>
                </a:solidFill>
                <a:latin typeface="Arial" pitchFamily="34" charset="0"/>
                <a:ea typeface="Arial" pitchFamily="34" charset="-122"/>
                <a:cs typeface="Arial" pitchFamily="34" charset="-120"/>
              </a:rPr>
              <a:t>FIND FASTER</a:t>
            </a:r>
            <a:endParaRPr lang="en-US" sz="1150" dirty="0"/>
          </a:p>
        </p:txBody>
      </p:sp>
      <p:sp>
        <p:nvSpPr>
          <p:cNvPr id="11" name="Text 5"/>
          <p:cNvSpPr txBox="1"/>
          <p:nvPr/>
        </p:nvSpPr>
        <p:spPr>
          <a:xfrm>
            <a:off x="804672" y="2743200"/>
            <a:ext cx="3099816" cy="548640"/>
          </a:xfrm>
          <a:prstGeom prst="rect">
            <a:avLst/>
          </a:prstGeom>
          <a:noFill/>
          <a:ln/>
        </p:spPr>
        <p:txBody>
          <a:bodyPr wrap="square" lIns="0" tIns="0" rIns="0" bIns="0" rtlCol="0" anchor="ctr"/>
          <a:lstStyle/>
          <a:p>
            <a:pPr marL="0" indent="0">
              <a:lnSpc>
                <a:spcPct val="110000"/>
              </a:lnSpc>
              <a:buNone/>
            </a:pPr>
            <a:r>
              <a:rPr lang="en-US" sz="1050" dirty="0">
                <a:solidFill>
                  <a:srgbClr val="6B6B67"/>
                </a:solidFill>
                <a:latin typeface="Arial" pitchFamily="34" charset="0"/>
                <a:ea typeface="Arial" pitchFamily="34" charset="-122"/>
                <a:cs typeface="Arial" pitchFamily="34" charset="-120"/>
              </a:rPr>
              <a:t>Discover nearby venues using filters.</a:t>
            </a:r>
            <a:endParaRPr lang="en-US" sz="1050" dirty="0"/>
          </a:p>
        </p:txBody>
      </p:sp>
      <p:sp>
        <p:nvSpPr>
          <p:cNvPr id="12" name="Text 6"/>
          <p:cNvSpPr txBox="1"/>
          <p:nvPr/>
        </p:nvSpPr>
        <p:spPr>
          <a:xfrm>
            <a:off x="804672" y="3401568"/>
            <a:ext cx="3099816" cy="256032"/>
          </a:xfrm>
          <a:prstGeom prst="rect">
            <a:avLst/>
          </a:prstGeom>
          <a:noFill/>
          <a:ln/>
        </p:spPr>
        <p:txBody>
          <a:bodyPr wrap="square" lIns="0" tIns="0" rIns="0" bIns="0" rtlCol="0" anchor="ctr"/>
          <a:lstStyle/>
          <a:p>
            <a:pPr marL="0" indent="0">
              <a:buNone/>
            </a:pPr>
            <a:r>
              <a:rPr lang="en-US" sz="1150" b="1" dirty="0">
                <a:solidFill>
                  <a:srgbClr val="111111"/>
                </a:solidFill>
                <a:latin typeface="Arial" pitchFamily="34" charset="0"/>
                <a:ea typeface="Arial" pitchFamily="34" charset="-122"/>
                <a:cs typeface="Arial" pitchFamily="34" charset="-120"/>
              </a:rPr>
              <a:t>BOOK WITH CONFIDENCE</a:t>
            </a:r>
            <a:endParaRPr lang="en-US" sz="1150" dirty="0"/>
          </a:p>
        </p:txBody>
      </p:sp>
      <p:sp>
        <p:nvSpPr>
          <p:cNvPr id="13" name="Text 7"/>
          <p:cNvSpPr txBox="1"/>
          <p:nvPr/>
        </p:nvSpPr>
        <p:spPr>
          <a:xfrm>
            <a:off x="804672" y="3675888"/>
            <a:ext cx="3099816" cy="548640"/>
          </a:xfrm>
          <a:prstGeom prst="rect">
            <a:avLst/>
          </a:prstGeom>
          <a:noFill/>
          <a:ln/>
        </p:spPr>
        <p:txBody>
          <a:bodyPr wrap="square" lIns="0" tIns="0" rIns="0" bIns="0" rtlCol="0" anchor="ctr"/>
          <a:lstStyle/>
          <a:p>
            <a:pPr marL="0" indent="0">
              <a:lnSpc>
                <a:spcPct val="110000"/>
              </a:lnSpc>
              <a:buNone/>
            </a:pPr>
            <a:r>
              <a:rPr lang="en-US" sz="1050" dirty="0">
                <a:solidFill>
                  <a:srgbClr val="6B6B67"/>
                </a:solidFill>
                <a:latin typeface="Arial" pitchFamily="34" charset="0"/>
                <a:ea typeface="Arial" pitchFamily="34" charset="-122"/>
                <a:cs typeface="Arial" pitchFamily="34" charset="-120"/>
              </a:rPr>
              <a:t>Availability checked by server.</a:t>
            </a:r>
            <a:endParaRPr lang="en-US" sz="1050" dirty="0"/>
          </a:p>
        </p:txBody>
      </p:sp>
      <p:sp>
        <p:nvSpPr>
          <p:cNvPr id="14" name="Text 8"/>
          <p:cNvSpPr txBox="1"/>
          <p:nvPr/>
        </p:nvSpPr>
        <p:spPr>
          <a:xfrm>
            <a:off x="804672" y="4334256"/>
            <a:ext cx="3099816" cy="256032"/>
          </a:xfrm>
          <a:prstGeom prst="rect">
            <a:avLst/>
          </a:prstGeom>
          <a:noFill/>
          <a:ln/>
        </p:spPr>
        <p:txBody>
          <a:bodyPr wrap="square" lIns="0" tIns="0" rIns="0" bIns="0" rtlCol="0" anchor="ctr"/>
          <a:lstStyle/>
          <a:p>
            <a:pPr marL="0" indent="0">
              <a:buNone/>
            </a:pPr>
            <a:r>
              <a:rPr lang="en-US" sz="1150" b="1" dirty="0">
                <a:solidFill>
                  <a:srgbClr val="111111"/>
                </a:solidFill>
                <a:latin typeface="Arial" pitchFamily="34" charset="0"/>
                <a:ea typeface="Arial" pitchFamily="34" charset="-122"/>
                <a:cs typeface="Arial" pitchFamily="34" charset="-120"/>
              </a:rPr>
              <a:t>FIND YOUR PEOPLE</a:t>
            </a:r>
            <a:endParaRPr lang="en-US" sz="1150" dirty="0"/>
          </a:p>
        </p:txBody>
      </p:sp>
      <p:sp>
        <p:nvSpPr>
          <p:cNvPr id="15" name="Text 9"/>
          <p:cNvSpPr txBox="1"/>
          <p:nvPr/>
        </p:nvSpPr>
        <p:spPr>
          <a:xfrm>
            <a:off x="804672" y="4608576"/>
            <a:ext cx="3099816" cy="548640"/>
          </a:xfrm>
          <a:prstGeom prst="rect">
            <a:avLst/>
          </a:prstGeom>
          <a:noFill/>
          <a:ln/>
        </p:spPr>
        <p:txBody>
          <a:bodyPr wrap="square" lIns="0" tIns="0" rIns="0" bIns="0" rtlCol="0" anchor="ctr"/>
          <a:lstStyle/>
          <a:p>
            <a:pPr marL="0" indent="0">
              <a:lnSpc>
                <a:spcPct val="110000"/>
              </a:lnSpc>
              <a:buNone/>
            </a:pPr>
            <a:r>
              <a:rPr lang="en-US" sz="1050" dirty="0">
                <a:solidFill>
                  <a:srgbClr val="6B6B67"/>
                </a:solidFill>
                <a:latin typeface="Arial" pitchFamily="34" charset="0"/>
                <a:ea typeface="Arial" pitchFamily="34" charset="-122"/>
                <a:cs typeface="Arial" pitchFamily="34" charset="-120"/>
              </a:rPr>
              <a:t>Create and join matches.</a:t>
            </a:r>
            <a:endParaRPr lang="en-US" sz="1050" dirty="0"/>
          </a:p>
        </p:txBody>
      </p:sp>
      <p:sp>
        <p:nvSpPr>
          <p:cNvPr id="16" name="Shape 10"/>
          <p:cNvSpPr/>
          <p:nvPr/>
        </p:nvSpPr>
        <p:spPr>
          <a:xfrm>
            <a:off x="4379976" y="1508760"/>
            <a:ext cx="3611880" cy="3840480"/>
          </a:xfrm>
          <a:prstGeom prst="roundRect">
            <a:avLst>
              <a:gd name="adj" fmla="val 1772"/>
            </a:avLst>
          </a:prstGeom>
          <a:solidFill>
            <a:srgbClr val="FFFFFF"/>
          </a:solidFill>
          <a:ln w="9525">
            <a:solidFill>
              <a:srgbClr val="C9C6BE"/>
            </a:solidFill>
            <a:prstDash val="solid"/>
          </a:ln>
          <a:effectLst>
            <a:outerShdw blurRad="101600" dist="38100" dir="5400000" algn="bl" rotWithShape="0">
              <a:srgbClr val="000000">
                <a:alpha val="15000"/>
              </a:srgbClr>
            </a:outerShdw>
          </a:effectLst>
        </p:spPr>
      </p:sp>
      <p:pic>
        <p:nvPicPr>
          <p:cNvPr id="17" name="Image 4" descr="C:\Users\Vikas\AppData\Local\Temp\claude\e--odoo-hackathon\d02bcbed-ac2c-44f2-a729-2f1ea408498c\scratchpad\ppt\out\venue_ink.png"/>
          <p:cNvPicPr>
            <a:picLocks noChangeAspect="1"/>
          </p:cNvPicPr>
          <p:nvPr/>
        </p:nvPicPr>
        <p:blipFill>
          <a:blip r:embed="rId7"/>
          <a:stretch>
            <a:fillRect/>
          </a:stretch>
        </p:blipFill>
        <p:spPr>
          <a:xfrm>
            <a:off x="4636008" y="1764792"/>
            <a:ext cx="502920" cy="502920"/>
          </a:xfrm>
          <a:prstGeom prst="rect">
            <a:avLst/>
          </a:prstGeom>
        </p:spPr>
      </p:pic>
      <p:sp>
        <p:nvSpPr>
          <p:cNvPr id="18" name="Text 11"/>
          <p:cNvSpPr txBox="1"/>
          <p:nvPr/>
        </p:nvSpPr>
        <p:spPr>
          <a:xfrm>
            <a:off x="5248656" y="1783080"/>
            <a:ext cx="2514600" cy="502920"/>
          </a:xfrm>
          <a:prstGeom prst="rect">
            <a:avLst/>
          </a:prstGeom>
          <a:noFill/>
          <a:ln/>
        </p:spPr>
        <p:txBody>
          <a:bodyPr wrap="square" lIns="0" tIns="0" rIns="0" bIns="0" rtlCol="0" anchor="ctr"/>
          <a:lstStyle/>
          <a:p>
            <a:pPr marL="0" indent="0">
              <a:buNone/>
            </a:pPr>
            <a:r>
              <a:rPr lang="en-US" sz="1300" b="1" dirty="0">
                <a:solidFill>
                  <a:srgbClr val="E53935"/>
                </a:solidFill>
                <a:latin typeface="Arial" pitchFamily="34" charset="0"/>
                <a:ea typeface="Arial" pitchFamily="34" charset="-122"/>
                <a:cs typeface="Arial" pitchFamily="34" charset="-120"/>
              </a:rPr>
              <a:t>FOR FACILITY OWNERS</a:t>
            </a:r>
            <a:endParaRPr lang="en-US" sz="1300" dirty="0"/>
          </a:p>
        </p:txBody>
      </p:sp>
      <p:sp>
        <p:nvSpPr>
          <p:cNvPr id="19" name="Text 12"/>
          <p:cNvSpPr txBox="1"/>
          <p:nvPr/>
        </p:nvSpPr>
        <p:spPr>
          <a:xfrm>
            <a:off x="4636008" y="2468880"/>
            <a:ext cx="3099816" cy="256032"/>
          </a:xfrm>
          <a:prstGeom prst="rect">
            <a:avLst/>
          </a:prstGeom>
          <a:noFill/>
          <a:ln/>
        </p:spPr>
        <p:txBody>
          <a:bodyPr wrap="square" lIns="0" tIns="0" rIns="0" bIns="0" rtlCol="0" anchor="ctr"/>
          <a:lstStyle/>
          <a:p>
            <a:pPr marL="0" indent="0">
              <a:buNone/>
            </a:pPr>
            <a:r>
              <a:rPr lang="en-US" sz="1150" b="1" dirty="0">
                <a:solidFill>
                  <a:srgbClr val="111111"/>
                </a:solidFill>
                <a:latin typeface="Arial" pitchFamily="34" charset="0"/>
                <a:ea typeface="Arial" pitchFamily="34" charset="-122"/>
                <a:cs typeface="Arial" pitchFamily="34" charset="-120"/>
              </a:rPr>
              <a:t>MANAGE EVERYTHING</a:t>
            </a:r>
            <a:endParaRPr lang="en-US" sz="1150" dirty="0"/>
          </a:p>
        </p:txBody>
      </p:sp>
      <p:sp>
        <p:nvSpPr>
          <p:cNvPr id="20" name="Text 13"/>
          <p:cNvSpPr txBox="1"/>
          <p:nvPr/>
        </p:nvSpPr>
        <p:spPr>
          <a:xfrm>
            <a:off x="4636008" y="2743200"/>
            <a:ext cx="3099816" cy="548640"/>
          </a:xfrm>
          <a:prstGeom prst="rect">
            <a:avLst/>
          </a:prstGeom>
          <a:noFill/>
          <a:ln/>
        </p:spPr>
        <p:txBody>
          <a:bodyPr wrap="square" lIns="0" tIns="0" rIns="0" bIns="0" rtlCol="0" anchor="ctr"/>
          <a:lstStyle/>
          <a:p>
            <a:pPr marL="0" indent="0">
              <a:lnSpc>
                <a:spcPct val="110000"/>
              </a:lnSpc>
              <a:buNone/>
            </a:pPr>
            <a:r>
              <a:rPr lang="en-US" sz="1050" dirty="0">
                <a:solidFill>
                  <a:srgbClr val="6B6B67"/>
                </a:solidFill>
                <a:latin typeface="Arial" pitchFamily="34" charset="0"/>
                <a:ea typeface="Arial" pitchFamily="34" charset="-122"/>
                <a:cs typeface="Arial" pitchFamily="34" charset="-120"/>
              </a:rPr>
              <a:t>Manage courts and block slots.</a:t>
            </a:r>
            <a:endParaRPr lang="en-US" sz="1050" dirty="0"/>
          </a:p>
        </p:txBody>
      </p:sp>
      <p:sp>
        <p:nvSpPr>
          <p:cNvPr id="21" name="Text 14"/>
          <p:cNvSpPr txBox="1"/>
          <p:nvPr/>
        </p:nvSpPr>
        <p:spPr>
          <a:xfrm>
            <a:off x="4636008" y="3401568"/>
            <a:ext cx="3099816" cy="256032"/>
          </a:xfrm>
          <a:prstGeom prst="rect">
            <a:avLst/>
          </a:prstGeom>
          <a:noFill/>
          <a:ln/>
        </p:spPr>
        <p:txBody>
          <a:bodyPr wrap="square" lIns="0" tIns="0" rIns="0" bIns="0" rtlCol="0" anchor="ctr"/>
          <a:lstStyle/>
          <a:p>
            <a:pPr marL="0" indent="0">
              <a:buNone/>
            </a:pPr>
            <a:r>
              <a:rPr lang="en-US" sz="1150" b="1" dirty="0">
                <a:solidFill>
                  <a:srgbClr val="111111"/>
                </a:solidFill>
                <a:latin typeface="Arial" pitchFamily="34" charset="0"/>
                <a:ea typeface="Arial" pitchFamily="34" charset="-122"/>
                <a:cs typeface="Arial" pitchFamily="34" charset="-120"/>
              </a:rPr>
              <a:t>UNDERSTAND DEMAND</a:t>
            </a:r>
            <a:endParaRPr lang="en-US" sz="1150" dirty="0"/>
          </a:p>
        </p:txBody>
      </p:sp>
      <p:sp>
        <p:nvSpPr>
          <p:cNvPr id="22" name="Text 15"/>
          <p:cNvSpPr txBox="1"/>
          <p:nvPr/>
        </p:nvSpPr>
        <p:spPr>
          <a:xfrm>
            <a:off x="4636008" y="3675888"/>
            <a:ext cx="3099816" cy="548640"/>
          </a:xfrm>
          <a:prstGeom prst="rect">
            <a:avLst/>
          </a:prstGeom>
          <a:noFill/>
          <a:ln/>
        </p:spPr>
        <p:txBody>
          <a:bodyPr wrap="square" lIns="0" tIns="0" rIns="0" bIns="0" rtlCol="0" anchor="ctr"/>
          <a:lstStyle/>
          <a:p>
            <a:pPr marL="0" indent="0">
              <a:lnSpc>
                <a:spcPct val="110000"/>
              </a:lnSpc>
              <a:buNone/>
            </a:pPr>
            <a:r>
              <a:rPr lang="en-US" sz="1050" dirty="0">
                <a:solidFill>
                  <a:srgbClr val="6B6B67"/>
                </a:solidFill>
                <a:latin typeface="Arial" pitchFamily="34" charset="0"/>
                <a:ea typeface="Arial" pitchFamily="34" charset="-122"/>
                <a:cs typeface="Arial" pitchFamily="34" charset="-120"/>
              </a:rPr>
              <a:t>View bookings, revenue, occupancy.</a:t>
            </a:r>
            <a:endParaRPr lang="en-US" sz="1050" dirty="0"/>
          </a:p>
        </p:txBody>
      </p:sp>
      <p:sp>
        <p:nvSpPr>
          <p:cNvPr id="23" name="Text 16"/>
          <p:cNvSpPr txBox="1"/>
          <p:nvPr/>
        </p:nvSpPr>
        <p:spPr>
          <a:xfrm>
            <a:off x="4636008" y="4334256"/>
            <a:ext cx="3099816" cy="256032"/>
          </a:xfrm>
          <a:prstGeom prst="rect">
            <a:avLst/>
          </a:prstGeom>
          <a:noFill/>
          <a:ln/>
        </p:spPr>
        <p:txBody>
          <a:bodyPr wrap="square" lIns="0" tIns="0" rIns="0" bIns="0" rtlCol="0" anchor="ctr"/>
          <a:lstStyle/>
          <a:p>
            <a:pPr marL="0" indent="0">
              <a:buNone/>
            </a:pPr>
            <a:r>
              <a:rPr lang="en-US" sz="1150" b="1" dirty="0">
                <a:solidFill>
                  <a:srgbClr val="111111"/>
                </a:solidFill>
                <a:latin typeface="Arial" pitchFamily="34" charset="0"/>
                <a:ea typeface="Arial" pitchFamily="34" charset="-122"/>
                <a:cs typeface="Arial" pitchFamily="34" charset="-120"/>
              </a:rPr>
              <a:t>REDUCE MANUAL WORK</a:t>
            </a:r>
            <a:endParaRPr lang="en-US" sz="1150" dirty="0"/>
          </a:p>
        </p:txBody>
      </p:sp>
      <p:sp>
        <p:nvSpPr>
          <p:cNvPr id="24" name="Text 17"/>
          <p:cNvSpPr txBox="1"/>
          <p:nvPr/>
        </p:nvSpPr>
        <p:spPr>
          <a:xfrm>
            <a:off x="4636008" y="4608576"/>
            <a:ext cx="3099816" cy="548640"/>
          </a:xfrm>
          <a:prstGeom prst="rect">
            <a:avLst/>
          </a:prstGeom>
          <a:noFill/>
          <a:ln/>
        </p:spPr>
        <p:txBody>
          <a:bodyPr wrap="square" lIns="0" tIns="0" rIns="0" bIns="0" rtlCol="0" anchor="ctr"/>
          <a:lstStyle/>
          <a:p>
            <a:pPr marL="0" indent="0">
              <a:lnSpc>
                <a:spcPct val="110000"/>
              </a:lnSpc>
              <a:buNone/>
            </a:pPr>
            <a:r>
              <a:rPr lang="en-US" sz="1050" dirty="0">
                <a:solidFill>
                  <a:srgbClr val="6B6B67"/>
                </a:solidFill>
                <a:latin typeface="Arial" pitchFamily="34" charset="0"/>
                <a:ea typeface="Arial" pitchFamily="34" charset="-122"/>
                <a:cs typeface="Arial" pitchFamily="34" charset="-120"/>
              </a:rPr>
              <a:t>Auto-generate availability.</a:t>
            </a:r>
            <a:endParaRPr lang="en-US" sz="1050" dirty="0"/>
          </a:p>
        </p:txBody>
      </p:sp>
      <p:sp>
        <p:nvSpPr>
          <p:cNvPr id="25" name="Shape 18"/>
          <p:cNvSpPr/>
          <p:nvPr/>
        </p:nvSpPr>
        <p:spPr>
          <a:xfrm>
            <a:off x="8211312" y="1508760"/>
            <a:ext cx="3611880" cy="3840480"/>
          </a:xfrm>
          <a:prstGeom prst="roundRect">
            <a:avLst>
              <a:gd name="adj" fmla="val 1772"/>
            </a:avLst>
          </a:prstGeom>
          <a:solidFill>
            <a:srgbClr val="FFFFFF"/>
          </a:solidFill>
          <a:ln w="9525">
            <a:solidFill>
              <a:srgbClr val="C9C6BE"/>
            </a:solidFill>
            <a:prstDash val="solid"/>
          </a:ln>
          <a:effectLst>
            <a:outerShdw blurRad="101600" dist="38100" dir="5400000" algn="bl" rotWithShape="0">
              <a:srgbClr val="000000">
                <a:alpha val="15000"/>
              </a:srgbClr>
            </a:outerShdw>
          </a:effectLst>
        </p:spPr>
      </p:sp>
      <p:pic>
        <p:nvPicPr>
          <p:cNvPr id="26" name="Image 5" descr="C:\Users\Vikas\AppData\Local\Temp\claude\e--odoo-hackathon\d02bcbed-ac2c-44f2-a729-2f1ea408498c\scratchpad\ppt\out\group_red.png"/>
          <p:cNvPicPr>
            <a:picLocks noChangeAspect="1"/>
          </p:cNvPicPr>
          <p:nvPr/>
        </p:nvPicPr>
        <p:blipFill>
          <a:blip r:embed="rId8"/>
          <a:stretch>
            <a:fillRect/>
          </a:stretch>
        </p:blipFill>
        <p:spPr>
          <a:xfrm>
            <a:off x="8467344" y="1764792"/>
            <a:ext cx="502920" cy="502920"/>
          </a:xfrm>
          <a:prstGeom prst="rect">
            <a:avLst/>
          </a:prstGeom>
        </p:spPr>
      </p:pic>
      <p:sp>
        <p:nvSpPr>
          <p:cNvPr id="27" name="Text 19"/>
          <p:cNvSpPr txBox="1"/>
          <p:nvPr/>
        </p:nvSpPr>
        <p:spPr>
          <a:xfrm>
            <a:off x="9079992" y="1783080"/>
            <a:ext cx="2514600" cy="502920"/>
          </a:xfrm>
          <a:prstGeom prst="rect">
            <a:avLst/>
          </a:prstGeom>
          <a:noFill/>
          <a:ln/>
        </p:spPr>
        <p:txBody>
          <a:bodyPr wrap="square" lIns="0" tIns="0" rIns="0" bIns="0" rtlCol="0" anchor="ctr"/>
          <a:lstStyle/>
          <a:p>
            <a:pPr marL="0" indent="0">
              <a:buNone/>
            </a:pPr>
            <a:r>
              <a:rPr lang="en-US" sz="1300" b="1" dirty="0">
                <a:solidFill>
                  <a:srgbClr val="E53935"/>
                </a:solidFill>
                <a:latin typeface="Arial" pitchFamily="34" charset="0"/>
                <a:ea typeface="Arial" pitchFamily="34" charset="-122"/>
                <a:cs typeface="Arial" pitchFamily="34" charset="-120"/>
              </a:rPr>
              <a:t>FOR THE SPORTS COMMUNITY</a:t>
            </a:r>
            <a:endParaRPr lang="en-US" sz="1300" dirty="0"/>
          </a:p>
        </p:txBody>
      </p:sp>
      <p:sp>
        <p:nvSpPr>
          <p:cNvPr id="28" name="Text 20"/>
          <p:cNvSpPr txBox="1"/>
          <p:nvPr/>
        </p:nvSpPr>
        <p:spPr>
          <a:xfrm>
            <a:off x="8467344" y="2468880"/>
            <a:ext cx="3099816" cy="256032"/>
          </a:xfrm>
          <a:prstGeom prst="rect">
            <a:avLst/>
          </a:prstGeom>
          <a:noFill/>
          <a:ln/>
        </p:spPr>
        <p:txBody>
          <a:bodyPr wrap="square" lIns="0" tIns="0" rIns="0" bIns="0" rtlCol="0" anchor="ctr"/>
          <a:lstStyle/>
          <a:p>
            <a:pPr marL="0" indent="0">
              <a:buNone/>
            </a:pPr>
            <a:r>
              <a:rPr lang="en-US" sz="1150" b="1" dirty="0">
                <a:solidFill>
                  <a:srgbClr val="111111"/>
                </a:solidFill>
                <a:latin typeface="Arial" pitchFamily="34" charset="0"/>
                <a:ea typeface="Arial" pitchFamily="34" charset="-122"/>
                <a:cs typeface="Arial" pitchFamily="34" charset="-120"/>
              </a:rPr>
              <a:t>MORE ACCESS</a:t>
            </a:r>
            <a:endParaRPr lang="en-US" sz="1150" dirty="0"/>
          </a:p>
        </p:txBody>
      </p:sp>
      <p:sp>
        <p:nvSpPr>
          <p:cNvPr id="29" name="Text 21"/>
          <p:cNvSpPr txBox="1"/>
          <p:nvPr/>
        </p:nvSpPr>
        <p:spPr>
          <a:xfrm>
            <a:off x="8467344" y="2743200"/>
            <a:ext cx="3099816" cy="548640"/>
          </a:xfrm>
          <a:prstGeom prst="rect">
            <a:avLst/>
          </a:prstGeom>
          <a:noFill/>
          <a:ln/>
        </p:spPr>
        <p:txBody>
          <a:bodyPr wrap="square" lIns="0" tIns="0" rIns="0" bIns="0" rtlCol="0" anchor="ctr"/>
          <a:lstStyle/>
          <a:p>
            <a:pPr marL="0" indent="0">
              <a:lnSpc>
                <a:spcPct val="110000"/>
              </a:lnSpc>
              <a:buNone/>
            </a:pPr>
            <a:r>
              <a:rPr lang="en-US" sz="1050" dirty="0">
                <a:solidFill>
                  <a:srgbClr val="6B6B67"/>
                </a:solidFill>
                <a:latin typeface="Arial" pitchFamily="34" charset="0"/>
                <a:ea typeface="Arial" pitchFamily="34" charset="-122"/>
                <a:cs typeface="Arial" pitchFamily="34" charset="-120"/>
              </a:rPr>
              <a:t>Make facilities easier to discover.</a:t>
            </a:r>
            <a:endParaRPr lang="en-US" sz="1050" dirty="0"/>
          </a:p>
        </p:txBody>
      </p:sp>
      <p:sp>
        <p:nvSpPr>
          <p:cNvPr id="30" name="Text 22"/>
          <p:cNvSpPr txBox="1"/>
          <p:nvPr/>
        </p:nvSpPr>
        <p:spPr>
          <a:xfrm>
            <a:off x="8467344" y="3401568"/>
            <a:ext cx="3099816" cy="256032"/>
          </a:xfrm>
          <a:prstGeom prst="rect">
            <a:avLst/>
          </a:prstGeom>
          <a:noFill/>
          <a:ln/>
        </p:spPr>
        <p:txBody>
          <a:bodyPr wrap="square" lIns="0" tIns="0" rIns="0" bIns="0" rtlCol="0" anchor="ctr"/>
          <a:lstStyle/>
          <a:p>
            <a:pPr marL="0" indent="0">
              <a:buNone/>
            </a:pPr>
            <a:r>
              <a:rPr lang="en-US" sz="1150" b="1" dirty="0">
                <a:solidFill>
                  <a:srgbClr val="111111"/>
                </a:solidFill>
                <a:latin typeface="Arial" pitchFamily="34" charset="0"/>
                <a:ea typeface="Arial" pitchFamily="34" charset="-122"/>
                <a:cs typeface="Arial" pitchFamily="34" charset="-120"/>
              </a:rPr>
              <a:t>MORE PARTICIPATION</a:t>
            </a:r>
            <a:endParaRPr lang="en-US" sz="1150" dirty="0"/>
          </a:p>
        </p:txBody>
      </p:sp>
      <p:sp>
        <p:nvSpPr>
          <p:cNvPr id="31" name="Text 23"/>
          <p:cNvSpPr txBox="1"/>
          <p:nvPr/>
        </p:nvSpPr>
        <p:spPr>
          <a:xfrm>
            <a:off x="8467344" y="3675888"/>
            <a:ext cx="3099816" cy="548640"/>
          </a:xfrm>
          <a:prstGeom prst="rect">
            <a:avLst/>
          </a:prstGeom>
          <a:noFill/>
          <a:ln/>
        </p:spPr>
        <p:txBody>
          <a:bodyPr wrap="square" lIns="0" tIns="0" rIns="0" bIns="0" rtlCol="0" anchor="ctr"/>
          <a:lstStyle/>
          <a:p>
            <a:pPr marL="0" indent="0">
              <a:lnSpc>
                <a:spcPct val="110000"/>
              </a:lnSpc>
              <a:buNone/>
            </a:pPr>
            <a:r>
              <a:rPr lang="en-US" sz="1050" dirty="0">
                <a:solidFill>
                  <a:srgbClr val="6B6B67"/>
                </a:solidFill>
                <a:latin typeface="Arial" pitchFamily="34" charset="0"/>
                <a:ea typeface="Arial" pitchFamily="34" charset="-122"/>
                <a:cs typeface="Arial" pitchFamily="34" charset="-120"/>
              </a:rPr>
              <a:t>Help people find matches.</a:t>
            </a:r>
            <a:endParaRPr lang="en-US" sz="1050" dirty="0"/>
          </a:p>
        </p:txBody>
      </p:sp>
      <p:sp>
        <p:nvSpPr>
          <p:cNvPr id="32" name="Text 24"/>
          <p:cNvSpPr txBox="1"/>
          <p:nvPr/>
        </p:nvSpPr>
        <p:spPr>
          <a:xfrm>
            <a:off x="8467344" y="4334256"/>
            <a:ext cx="3099816" cy="256032"/>
          </a:xfrm>
          <a:prstGeom prst="rect">
            <a:avLst/>
          </a:prstGeom>
          <a:noFill/>
          <a:ln/>
        </p:spPr>
        <p:txBody>
          <a:bodyPr wrap="square" lIns="0" tIns="0" rIns="0" bIns="0" rtlCol="0" anchor="ctr"/>
          <a:lstStyle/>
          <a:p>
            <a:pPr marL="0" indent="0">
              <a:buNone/>
            </a:pPr>
            <a:r>
              <a:rPr lang="en-US" sz="1150" b="1" dirty="0">
                <a:solidFill>
                  <a:srgbClr val="111111"/>
                </a:solidFill>
                <a:latin typeface="Arial" pitchFamily="34" charset="0"/>
                <a:ea typeface="Arial" pitchFamily="34" charset="-122"/>
                <a:cs typeface="Arial" pitchFamily="34" charset="-120"/>
              </a:rPr>
              <a:t>MORE UTILIZATION</a:t>
            </a:r>
            <a:endParaRPr lang="en-US" sz="1150" dirty="0"/>
          </a:p>
        </p:txBody>
      </p:sp>
      <p:sp>
        <p:nvSpPr>
          <p:cNvPr id="33" name="Text 25"/>
          <p:cNvSpPr txBox="1"/>
          <p:nvPr/>
        </p:nvSpPr>
        <p:spPr>
          <a:xfrm>
            <a:off x="8467344" y="4608576"/>
            <a:ext cx="3099816" cy="548640"/>
          </a:xfrm>
          <a:prstGeom prst="rect">
            <a:avLst/>
          </a:prstGeom>
          <a:noFill/>
          <a:ln/>
        </p:spPr>
        <p:txBody>
          <a:bodyPr wrap="square" lIns="0" tIns="0" rIns="0" bIns="0" rtlCol="0" anchor="ctr"/>
          <a:lstStyle/>
          <a:p>
            <a:pPr marL="0" indent="0">
              <a:lnSpc>
                <a:spcPct val="110000"/>
              </a:lnSpc>
              <a:buNone/>
            </a:pPr>
            <a:r>
              <a:rPr lang="en-US" sz="1050" dirty="0">
                <a:solidFill>
                  <a:srgbClr val="6B6B67"/>
                </a:solidFill>
                <a:latin typeface="Arial" pitchFamily="34" charset="0"/>
                <a:ea typeface="Arial" pitchFamily="34" charset="-122"/>
                <a:cs typeface="Arial" pitchFamily="34" charset="-120"/>
              </a:rPr>
              <a:t>Manage bookings efficiently.</a:t>
            </a:r>
            <a:endParaRPr lang="en-US" sz="1050" dirty="0"/>
          </a:p>
        </p:txBody>
      </p:sp>
      <p:sp>
        <p:nvSpPr>
          <p:cNvPr id="34" name="Text 26"/>
          <p:cNvSpPr txBox="1"/>
          <p:nvPr/>
        </p:nvSpPr>
        <p:spPr>
          <a:xfrm>
            <a:off x="548640" y="5577840"/>
            <a:ext cx="6400800" cy="502920"/>
          </a:xfrm>
          <a:prstGeom prst="rect">
            <a:avLst/>
          </a:prstGeom>
          <a:noFill/>
          <a:ln/>
        </p:spPr>
        <p:txBody>
          <a:bodyPr wrap="square" lIns="0" tIns="0" rIns="0" bIns="0" rtlCol="0" anchor="ctr"/>
          <a:lstStyle/>
          <a:p>
            <a:pPr marL="0" indent="0">
              <a:buNone/>
            </a:pPr>
            <a:r>
              <a:rPr lang="en-US" sz="2200" b="1" i="1" dirty="0">
                <a:solidFill>
                  <a:srgbClr val="E53935"/>
                </a:solidFill>
                <a:latin typeface="Arial" pitchFamily="34" charset="0"/>
                <a:ea typeface="Arial" pitchFamily="34" charset="-122"/>
                <a:cs typeface="Arial" pitchFamily="34" charset="-120"/>
              </a:rPr>
              <a:t>MORE PLAY. LESS SEARCHING.</a:t>
            </a:r>
            <a:endParaRPr lang="en-US" sz="2200" dirty="0"/>
          </a:p>
        </p:txBody>
      </p:sp>
      <p:pic>
        <p:nvPicPr>
          <p:cNvPr id="35" name="Image 6" descr="C:\Users\Vikas\AppData\Local\Temp\claude\e--odoo-hackathon\d02bcbed-ac2c-44f2-a729-2f1ea408498c\scratchpad\ppt\out\underline_red.png"/>
          <p:cNvPicPr>
            <a:picLocks noChangeAspect="1"/>
          </p:cNvPicPr>
          <p:nvPr/>
        </p:nvPicPr>
        <p:blipFill>
          <a:blip r:embed="rId9"/>
          <a:stretch>
            <a:fillRect/>
          </a:stretch>
        </p:blipFill>
        <p:spPr>
          <a:xfrm>
            <a:off x="594360" y="6053328"/>
            <a:ext cx="4846320" cy="201168"/>
          </a:xfrm>
          <a:prstGeom prst="rect">
            <a:avLst/>
          </a:prstGeom>
        </p:spPr>
      </p:pic>
      <p:sp>
        <p:nvSpPr>
          <p:cNvPr id="36" name="Text 27"/>
          <p:cNvSpPr txBox="1"/>
          <p:nvPr/>
        </p:nvSpPr>
        <p:spPr>
          <a:xfrm>
            <a:off x="457200" y="6528816"/>
            <a:ext cx="2743200" cy="256032"/>
          </a:xfrm>
          <a:prstGeom prst="rect">
            <a:avLst/>
          </a:prstGeom>
          <a:noFill/>
          <a:ln/>
        </p:spPr>
        <p:txBody>
          <a:bodyPr wrap="square" lIns="0" tIns="0" rIns="0" bIns="0" rtlCol="0" anchor="ctr"/>
          <a:lstStyle/>
          <a:p>
            <a:pPr marL="0" indent="0">
              <a:buNone/>
            </a:pPr>
            <a:r>
              <a:rPr lang="en-US" sz="800" dirty="0">
                <a:solidFill>
                  <a:srgbClr val="6B6B67"/>
                </a:solidFill>
                <a:latin typeface="Arial" pitchFamily="34" charset="0"/>
                <a:ea typeface="Arial" pitchFamily="34" charset="-122"/>
                <a:cs typeface="Arial" pitchFamily="34" charset="-120"/>
              </a:rPr>
              <a:t>QUICKCOURT / 2026</a:t>
            </a:r>
            <a:endParaRPr lang="en-US" sz="800" dirty="0"/>
          </a:p>
        </p:txBody>
      </p:sp>
      <p:sp>
        <p:nvSpPr>
          <p:cNvPr id="37" name="Text 28"/>
          <p:cNvSpPr txBox="1"/>
          <p:nvPr/>
        </p:nvSpPr>
        <p:spPr>
          <a:xfrm>
            <a:off x="4480560" y="6528816"/>
            <a:ext cx="3200400" cy="256032"/>
          </a:xfrm>
          <a:prstGeom prst="rect">
            <a:avLst/>
          </a:prstGeom>
          <a:noFill/>
          <a:ln/>
        </p:spPr>
        <p:txBody>
          <a:bodyPr wrap="square" lIns="0" tIns="0" rIns="0" bIns="0" rtlCol="0" anchor="ctr"/>
          <a:lstStyle/>
          <a:p>
            <a:pPr marL="0" indent="0" algn="ctr">
              <a:buNone/>
            </a:pPr>
            <a:r>
              <a:rPr lang="en-US" sz="800" kern="0" spc="200" dirty="0">
                <a:solidFill>
                  <a:srgbClr val="6B6B67"/>
                </a:solidFill>
                <a:latin typeface="Arial" pitchFamily="34" charset="0"/>
                <a:ea typeface="Arial" pitchFamily="34" charset="-122"/>
                <a:cs typeface="Arial" pitchFamily="34" charset="-120"/>
              </a:rPr>
              <a:t>PLAYERS · OWNERS · COMMUNITY</a:t>
            </a:r>
            <a:endParaRPr lang="en-US" sz="800" dirty="0"/>
          </a:p>
        </p:txBody>
      </p:sp>
      <p:sp>
        <p:nvSpPr>
          <p:cNvPr id="38" name="Text 29"/>
          <p:cNvSpPr txBox="1"/>
          <p:nvPr/>
        </p:nvSpPr>
        <p:spPr>
          <a:xfrm>
            <a:off x="10332720" y="6528816"/>
            <a:ext cx="1371600" cy="256032"/>
          </a:xfrm>
          <a:prstGeom prst="rect">
            <a:avLst/>
          </a:prstGeom>
          <a:noFill/>
          <a:ln/>
        </p:spPr>
        <p:txBody>
          <a:bodyPr wrap="square" lIns="0" tIns="0" rIns="0" bIns="0" rtlCol="0" anchor="ctr"/>
          <a:lstStyle/>
          <a:p>
            <a:pPr marL="0" indent="0" algn="r">
              <a:buNone/>
            </a:pPr>
            <a:r>
              <a:rPr lang="en-US" sz="800" b="1" dirty="0">
                <a:solidFill>
                  <a:srgbClr val="E53935"/>
                </a:solidFill>
                <a:latin typeface="Arial" pitchFamily="34" charset="0"/>
                <a:ea typeface="Arial" pitchFamily="34" charset="-122"/>
                <a:cs typeface="Arial" pitchFamily="34" charset="-120"/>
              </a:rPr>
              <a:t>05</a:t>
            </a:r>
            <a:r>
              <a:rPr lang="en-US" sz="800" dirty="0">
                <a:solidFill>
                  <a:srgbClr val="6B6B67"/>
                </a:solidFill>
                <a:latin typeface="Arial" pitchFamily="34" charset="0"/>
                <a:ea typeface="Arial" pitchFamily="34" charset="-122"/>
                <a:cs typeface="Arial" pitchFamily="34" charset="-120"/>
              </a:rPr>
              <a:t> / 08</a:t>
            </a:r>
            <a:endParaRPr lang="en-US" sz="800"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4EE"/>
        </a:solidFill>
        <a:effectLst/>
      </p:bgPr>
    </p:bg>
    <p:spTree>
      <p:nvGrpSpPr>
        <p:cNvPr id="1" name=""/>
        <p:cNvGrpSpPr/>
        <p:nvPr/>
      </p:nvGrpSpPr>
      <p:grpSpPr>
        <a:xfrm>
          <a:off x="0" y="0"/>
          <a:ext cx="0" cy="0"/>
          <a:chOff x="0" y="0"/>
          <a:chExt cx="0" cy="0"/>
        </a:xfrm>
      </p:grpSpPr>
      <p:pic>
        <p:nvPicPr>
          <p:cNvPr id="2" name="Image 0" descr="C:\Users\Vikas\AppData\Local\Temp\claude\e--odoo-hackathon\d02bcbed-ac2c-44f2-a729-2f1ea408498c\scratchpad\ppt\out\football_ink.png"/>
          <p:cNvPicPr>
            <a:picLocks noChangeAspect="1"/>
          </p:cNvPicPr>
          <p:nvPr/>
        </p:nvPicPr>
        <p:blipFill>
          <a:blip r:embed="rId3">
            <a:alphaModFix amt="92000"/>
          </a:blip>
          <a:stretch>
            <a:fillRect/>
          </a:stretch>
        </p:blipFill>
        <p:spPr>
          <a:xfrm rot="-600000">
            <a:off x="-415345" y="5486401"/>
            <a:ext cx="914400" cy="914400"/>
          </a:xfrm>
          <a:prstGeom prst="rect">
            <a:avLst/>
          </a:prstGeom>
        </p:spPr>
      </p:pic>
      <p:pic>
        <p:nvPicPr>
          <p:cNvPr id="3" name="Image 1" descr="C:\Users\Vikas\AppData\Local\Temp\claude\e--odoo-hackathon\d02bcbed-ac2c-44f2-a729-2f1ea408498c\scratchpad\ppt\out\ball_red.png"/>
          <p:cNvPicPr>
            <a:picLocks noChangeAspect="1"/>
          </p:cNvPicPr>
          <p:nvPr/>
        </p:nvPicPr>
        <p:blipFill>
          <a:blip r:embed="rId4">
            <a:alphaModFix amt="92000"/>
          </a:blip>
          <a:stretch>
            <a:fillRect/>
          </a:stretch>
        </p:blipFill>
        <p:spPr>
          <a:xfrm rot="900000">
            <a:off x="11795760" y="-594360"/>
            <a:ext cx="868680" cy="868680"/>
          </a:xfrm>
          <a:prstGeom prst="rect">
            <a:avLst/>
          </a:prstGeom>
        </p:spPr>
      </p:pic>
      <p:sp>
        <p:nvSpPr>
          <p:cNvPr id="4" name="Text 0"/>
          <p:cNvSpPr txBox="1"/>
          <p:nvPr/>
        </p:nvSpPr>
        <p:spPr>
          <a:xfrm>
            <a:off x="548640" y="384048"/>
            <a:ext cx="7315200" cy="292608"/>
          </a:xfrm>
          <a:prstGeom prst="rect">
            <a:avLst/>
          </a:prstGeom>
          <a:noFill/>
          <a:ln/>
        </p:spPr>
        <p:txBody>
          <a:bodyPr wrap="square" lIns="0" tIns="0" rIns="0" bIns="0" rtlCol="0" anchor="ctr"/>
          <a:lstStyle/>
          <a:p>
            <a:pPr marL="0" indent="0">
              <a:buNone/>
            </a:pPr>
            <a:r>
              <a:rPr lang="en-US" sz="1100" b="1" kern="0" spc="200" dirty="0">
                <a:solidFill>
                  <a:srgbClr val="6B6B67"/>
                </a:solidFill>
                <a:latin typeface="Arial" pitchFamily="34" charset="0"/>
                <a:ea typeface="Arial" pitchFamily="34" charset="-122"/>
                <a:cs typeface="Arial" pitchFamily="34" charset="-120"/>
              </a:rPr>
              <a:t>END-TO-END EXPERIENCE</a:t>
            </a:r>
            <a:endParaRPr lang="en-US" sz="1100" dirty="0"/>
          </a:p>
        </p:txBody>
      </p:sp>
      <p:sp>
        <p:nvSpPr>
          <p:cNvPr id="5" name="Text 1"/>
          <p:cNvSpPr txBox="1"/>
          <p:nvPr/>
        </p:nvSpPr>
        <p:spPr>
          <a:xfrm>
            <a:off x="502920" y="621792"/>
            <a:ext cx="10515600" cy="640080"/>
          </a:xfrm>
          <a:prstGeom prst="rect">
            <a:avLst/>
          </a:prstGeom>
          <a:noFill/>
          <a:ln/>
        </p:spPr>
        <p:txBody>
          <a:bodyPr wrap="square" lIns="0" tIns="0" rIns="0" bIns="0" rtlCol="0" anchor="ctr"/>
          <a:lstStyle/>
          <a:p>
            <a:pPr marL="0" indent="0">
              <a:buNone/>
            </a:pPr>
            <a:r>
              <a:rPr lang="en-US" sz="2700" b="1" dirty="0">
                <a:solidFill>
                  <a:srgbClr val="111111"/>
                </a:solidFill>
                <a:latin typeface="Arial" pitchFamily="34" charset="0"/>
                <a:ea typeface="Arial" pitchFamily="34" charset="-122"/>
                <a:cs typeface="Arial" pitchFamily="34" charset="-120"/>
              </a:rPr>
              <a:t>FROM "I WANT TO PLAY" TO "GAME ON."</a:t>
            </a:r>
            <a:endParaRPr lang="en-US" sz="2700" dirty="0"/>
          </a:p>
        </p:txBody>
      </p:sp>
      <p:pic>
        <p:nvPicPr>
          <p:cNvPr id="6" name="Image 2" descr="C:\Users\Vikas\AppData\Local\Temp\claude\e--odoo-hackathon\d02bcbed-ac2c-44f2-a729-2f1ea408498c\scratchpad\ppt\out\trajdash_red.png"/>
          <p:cNvPicPr>
            <a:picLocks noChangeAspect="1"/>
          </p:cNvPicPr>
          <p:nvPr/>
        </p:nvPicPr>
        <p:blipFill>
          <a:blip r:embed="rId5"/>
          <a:stretch>
            <a:fillRect/>
          </a:stretch>
        </p:blipFill>
        <p:spPr>
          <a:xfrm>
            <a:off x="502920" y="2377440"/>
            <a:ext cx="11155680" cy="420624"/>
          </a:xfrm>
          <a:prstGeom prst="rect">
            <a:avLst/>
          </a:prstGeom>
        </p:spPr>
      </p:pic>
      <p:pic>
        <p:nvPicPr>
          <p:cNvPr id="7" name="Image 3" descr="C:\Users\Vikas\AppData\Local\Temp\claude\e--odoo-hackathon\d02bcbed-ac2c-44f2-a729-2f1ea408498c\scratchpad\ppt\out\ball_red.png"/>
          <p:cNvPicPr>
            <a:picLocks noChangeAspect="1"/>
          </p:cNvPicPr>
          <p:nvPr/>
        </p:nvPicPr>
        <p:blipFill>
          <a:blip r:embed="rId4"/>
          <a:stretch>
            <a:fillRect/>
          </a:stretch>
        </p:blipFill>
        <p:spPr>
          <a:xfrm>
            <a:off x="11430000" y="2487168"/>
            <a:ext cx="274320" cy="274320"/>
          </a:xfrm>
          <a:prstGeom prst="rect">
            <a:avLst/>
          </a:prstGeom>
        </p:spPr>
      </p:pic>
      <p:sp>
        <p:nvSpPr>
          <p:cNvPr id="8" name="Shape 2"/>
          <p:cNvSpPr/>
          <p:nvPr/>
        </p:nvSpPr>
        <p:spPr>
          <a:xfrm>
            <a:off x="502920" y="3383280"/>
            <a:ext cx="2148840" cy="2331720"/>
          </a:xfrm>
          <a:prstGeom prst="roundRect">
            <a:avLst>
              <a:gd name="adj" fmla="val 2553"/>
            </a:avLst>
          </a:prstGeom>
          <a:solidFill>
            <a:srgbClr val="FFFFFF"/>
          </a:solidFill>
          <a:ln w="9525">
            <a:solidFill>
              <a:srgbClr val="C9C6BE"/>
            </a:solidFill>
            <a:prstDash val="solid"/>
          </a:ln>
          <a:effectLst>
            <a:outerShdw blurRad="76200" dist="25400" dir="5400000" algn="bl" rotWithShape="0">
              <a:srgbClr val="000000">
                <a:alpha val="13000"/>
              </a:srgbClr>
            </a:outerShdw>
          </a:effectLst>
        </p:spPr>
      </p:sp>
      <p:pic>
        <p:nvPicPr>
          <p:cNvPr id="9" name="Image 4" descr="C:\Users\Vikas\AppData\Local\Temp\claude\e--odoo-hackathon\d02bcbed-ac2c-44f2-a729-2f1ea408498c\scratchpad\ppt\out\pin_ink.png"/>
          <p:cNvPicPr>
            <a:picLocks noChangeAspect="1"/>
          </p:cNvPicPr>
          <p:nvPr/>
        </p:nvPicPr>
        <p:blipFill>
          <a:blip r:embed="rId6"/>
          <a:stretch>
            <a:fillRect/>
          </a:stretch>
        </p:blipFill>
        <p:spPr>
          <a:xfrm>
            <a:off x="1321308" y="3584448"/>
            <a:ext cx="512064" cy="512064"/>
          </a:xfrm>
          <a:prstGeom prst="rect">
            <a:avLst/>
          </a:prstGeom>
        </p:spPr>
      </p:pic>
      <p:sp>
        <p:nvSpPr>
          <p:cNvPr id="10" name="Text 3"/>
          <p:cNvSpPr txBox="1"/>
          <p:nvPr/>
        </p:nvSpPr>
        <p:spPr>
          <a:xfrm>
            <a:off x="640080" y="3520440"/>
            <a:ext cx="548640" cy="274320"/>
          </a:xfrm>
          <a:prstGeom prst="rect">
            <a:avLst/>
          </a:prstGeom>
          <a:noFill/>
          <a:ln/>
        </p:spPr>
        <p:txBody>
          <a:bodyPr wrap="square" lIns="0" tIns="0" rIns="0" bIns="0" rtlCol="0" anchor="ctr"/>
          <a:lstStyle/>
          <a:p>
            <a:pPr marL="0" indent="0">
              <a:buNone/>
            </a:pPr>
            <a:r>
              <a:rPr lang="en-US" sz="1100" b="1" dirty="0">
                <a:solidFill>
                  <a:srgbClr val="C9C6BE"/>
                </a:solidFill>
                <a:latin typeface="Arial" pitchFamily="34" charset="0"/>
                <a:ea typeface="Arial" pitchFamily="34" charset="-122"/>
                <a:cs typeface="Arial" pitchFamily="34" charset="-120"/>
              </a:rPr>
              <a:t>01</a:t>
            </a:r>
            <a:endParaRPr lang="en-US" sz="1100" dirty="0"/>
          </a:p>
        </p:txBody>
      </p:sp>
      <p:sp>
        <p:nvSpPr>
          <p:cNvPr id="11" name="Text 4"/>
          <p:cNvSpPr txBox="1"/>
          <p:nvPr/>
        </p:nvSpPr>
        <p:spPr>
          <a:xfrm>
            <a:off x="594360" y="4206240"/>
            <a:ext cx="1965960" cy="274320"/>
          </a:xfrm>
          <a:prstGeom prst="rect">
            <a:avLst/>
          </a:prstGeom>
          <a:noFill/>
          <a:ln/>
        </p:spPr>
        <p:txBody>
          <a:bodyPr wrap="square" lIns="0" tIns="0" rIns="0" bIns="0" rtlCol="0" anchor="ctr"/>
          <a:lstStyle/>
          <a:p>
            <a:pPr marL="0" indent="0" algn="ctr">
              <a:buNone/>
            </a:pPr>
            <a:r>
              <a:rPr lang="en-US" sz="1300" b="1" kern="0" spc="50" dirty="0">
                <a:solidFill>
                  <a:srgbClr val="E53935"/>
                </a:solidFill>
                <a:latin typeface="Arial" pitchFamily="34" charset="0"/>
                <a:ea typeface="Arial" pitchFamily="34" charset="-122"/>
                <a:cs typeface="Arial" pitchFamily="34" charset="-120"/>
              </a:rPr>
              <a:t>DISCOVER</a:t>
            </a:r>
            <a:endParaRPr lang="en-US" sz="1300" dirty="0"/>
          </a:p>
        </p:txBody>
      </p:sp>
      <p:sp>
        <p:nvSpPr>
          <p:cNvPr id="12" name="Text 5"/>
          <p:cNvSpPr txBox="1"/>
          <p:nvPr/>
        </p:nvSpPr>
        <p:spPr>
          <a:xfrm>
            <a:off x="640080" y="4572000"/>
            <a:ext cx="1874520" cy="1051560"/>
          </a:xfrm>
          <a:prstGeom prst="rect">
            <a:avLst/>
          </a:prstGeom>
          <a:noFill/>
          <a:ln/>
        </p:spPr>
        <p:txBody>
          <a:bodyPr wrap="square" lIns="0" tIns="0" rIns="0" bIns="0" rtlCol="0" anchor="ctr"/>
          <a:lstStyle/>
          <a:p>
            <a:pPr marL="0" indent="0" algn="ctr">
              <a:lnSpc>
                <a:spcPct val="115000"/>
              </a:lnSpc>
              <a:buNone/>
            </a:pPr>
            <a:r>
              <a:rPr lang="en-US" sz="950" dirty="0">
                <a:solidFill>
                  <a:srgbClr val="111111"/>
                </a:solidFill>
                <a:latin typeface="Arial" pitchFamily="34" charset="0"/>
                <a:ea typeface="Arial" pitchFamily="34" charset="-122"/>
                <a:cs typeface="Arial" pitchFamily="34" charset="-120"/>
              </a:rPr>
              <a:t>Choose sport → search venues → filter</a:t>
            </a:r>
            <a:endParaRPr lang="en-US" sz="950" dirty="0"/>
          </a:p>
        </p:txBody>
      </p:sp>
      <p:sp>
        <p:nvSpPr>
          <p:cNvPr id="13" name="Shape 6"/>
          <p:cNvSpPr/>
          <p:nvPr/>
        </p:nvSpPr>
        <p:spPr>
          <a:xfrm>
            <a:off x="2761488" y="3383280"/>
            <a:ext cx="2148840" cy="2331720"/>
          </a:xfrm>
          <a:prstGeom prst="roundRect">
            <a:avLst>
              <a:gd name="adj" fmla="val 2553"/>
            </a:avLst>
          </a:prstGeom>
          <a:solidFill>
            <a:srgbClr val="FFFFFF"/>
          </a:solidFill>
          <a:ln w="9525">
            <a:solidFill>
              <a:srgbClr val="C9C6BE"/>
            </a:solidFill>
            <a:prstDash val="solid"/>
          </a:ln>
          <a:effectLst>
            <a:outerShdw blurRad="76200" dist="25400" dir="5400000" algn="bl" rotWithShape="0">
              <a:srgbClr val="000000">
                <a:alpha val="13000"/>
              </a:srgbClr>
            </a:outerShdw>
          </a:effectLst>
        </p:spPr>
      </p:sp>
      <p:pic>
        <p:nvPicPr>
          <p:cNvPr id="14" name="Image 5" descr="C:\Users\Vikas\AppData\Local\Temp\claude\e--odoo-hackathon\d02bcbed-ac2c-44f2-a729-2f1ea408498c\scratchpad\ppt\out\tennis_racket_ink.png"/>
          <p:cNvPicPr>
            <a:picLocks noChangeAspect="1"/>
          </p:cNvPicPr>
          <p:nvPr/>
        </p:nvPicPr>
        <p:blipFill>
          <a:blip r:embed="rId7"/>
          <a:stretch>
            <a:fillRect/>
          </a:stretch>
        </p:blipFill>
        <p:spPr>
          <a:xfrm>
            <a:off x="3579876" y="3584448"/>
            <a:ext cx="512064" cy="512064"/>
          </a:xfrm>
          <a:prstGeom prst="rect">
            <a:avLst/>
          </a:prstGeom>
        </p:spPr>
      </p:pic>
      <p:sp>
        <p:nvSpPr>
          <p:cNvPr id="15" name="Text 7"/>
          <p:cNvSpPr txBox="1"/>
          <p:nvPr/>
        </p:nvSpPr>
        <p:spPr>
          <a:xfrm>
            <a:off x="2898648" y="3520440"/>
            <a:ext cx="548640" cy="274320"/>
          </a:xfrm>
          <a:prstGeom prst="rect">
            <a:avLst/>
          </a:prstGeom>
          <a:noFill/>
          <a:ln/>
        </p:spPr>
        <p:txBody>
          <a:bodyPr wrap="square" lIns="0" tIns="0" rIns="0" bIns="0" rtlCol="0" anchor="ctr"/>
          <a:lstStyle/>
          <a:p>
            <a:pPr marL="0" indent="0">
              <a:buNone/>
            </a:pPr>
            <a:r>
              <a:rPr lang="en-US" sz="1100" b="1" dirty="0">
                <a:solidFill>
                  <a:srgbClr val="C9C6BE"/>
                </a:solidFill>
                <a:latin typeface="Arial" pitchFamily="34" charset="0"/>
                <a:ea typeface="Arial" pitchFamily="34" charset="-122"/>
                <a:cs typeface="Arial" pitchFamily="34" charset="-120"/>
              </a:rPr>
              <a:t>02</a:t>
            </a:r>
            <a:endParaRPr lang="en-US" sz="1100" dirty="0"/>
          </a:p>
        </p:txBody>
      </p:sp>
      <p:sp>
        <p:nvSpPr>
          <p:cNvPr id="16" name="Text 8"/>
          <p:cNvSpPr txBox="1"/>
          <p:nvPr/>
        </p:nvSpPr>
        <p:spPr>
          <a:xfrm>
            <a:off x="2852928" y="4206240"/>
            <a:ext cx="1965960" cy="274320"/>
          </a:xfrm>
          <a:prstGeom prst="rect">
            <a:avLst/>
          </a:prstGeom>
          <a:noFill/>
          <a:ln/>
        </p:spPr>
        <p:txBody>
          <a:bodyPr wrap="square" lIns="0" tIns="0" rIns="0" bIns="0" rtlCol="0" anchor="ctr"/>
          <a:lstStyle/>
          <a:p>
            <a:pPr marL="0" indent="0" algn="ctr">
              <a:buNone/>
            </a:pPr>
            <a:r>
              <a:rPr lang="en-US" sz="1300" b="1" kern="0" spc="50" dirty="0">
                <a:solidFill>
                  <a:srgbClr val="E53935"/>
                </a:solidFill>
                <a:latin typeface="Arial" pitchFamily="34" charset="0"/>
                <a:ea typeface="Arial" pitchFamily="34" charset="-122"/>
                <a:cs typeface="Arial" pitchFamily="34" charset="-120"/>
              </a:rPr>
              <a:t>CHOOSE</a:t>
            </a:r>
            <a:endParaRPr lang="en-US" sz="1300" dirty="0"/>
          </a:p>
        </p:txBody>
      </p:sp>
      <p:sp>
        <p:nvSpPr>
          <p:cNvPr id="17" name="Text 9"/>
          <p:cNvSpPr txBox="1"/>
          <p:nvPr/>
        </p:nvSpPr>
        <p:spPr>
          <a:xfrm>
            <a:off x="2898648" y="4572000"/>
            <a:ext cx="1874520" cy="1051560"/>
          </a:xfrm>
          <a:prstGeom prst="rect">
            <a:avLst/>
          </a:prstGeom>
          <a:noFill/>
          <a:ln/>
        </p:spPr>
        <p:txBody>
          <a:bodyPr wrap="square" lIns="0" tIns="0" rIns="0" bIns="0" rtlCol="0" anchor="ctr"/>
          <a:lstStyle/>
          <a:p>
            <a:pPr marL="0" indent="0" algn="ctr">
              <a:lnSpc>
                <a:spcPct val="115000"/>
              </a:lnSpc>
              <a:buNone/>
            </a:pPr>
            <a:r>
              <a:rPr lang="en-US" sz="950" dirty="0">
                <a:solidFill>
                  <a:srgbClr val="111111"/>
                </a:solidFill>
                <a:latin typeface="Arial" pitchFamily="34" charset="0"/>
                <a:ea typeface="Arial" pitchFamily="34" charset="-122"/>
                <a:cs typeface="Arial" pitchFamily="34" charset="-120"/>
              </a:rPr>
              <a:t>Open venue → check pricing → select slot</a:t>
            </a:r>
            <a:endParaRPr lang="en-US" sz="950" dirty="0"/>
          </a:p>
        </p:txBody>
      </p:sp>
      <p:sp>
        <p:nvSpPr>
          <p:cNvPr id="18" name="Shape 10"/>
          <p:cNvSpPr/>
          <p:nvPr/>
        </p:nvSpPr>
        <p:spPr>
          <a:xfrm>
            <a:off x="5020056" y="3383280"/>
            <a:ext cx="2148840" cy="2331720"/>
          </a:xfrm>
          <a:prstGeom prst="roundRect">
            <a:avLst>
              <a:gd name="adj" fmla="val 2553"/>
            </a:avLst>
          </a:prstGeom>
          <a:solidFill>
            <a:srgbClr val="FFFFFF"/>
          </a:solidFill>
          <a:ln w="9525">
            <a:solidFill>
              <a:srgbClr val="C9C6BE"/>
            </a:solidFill>
            <a:prstDash val="solid"/>
          </a:ln>
          <a:effectLst>
            <a:outerShdw blurRad="76200" dist="25400" dir="5400000" algn="bl" rotWithShape="0">
              <a:srgbClr val="000000">
                <a:alpha val="13000"/>
              </a:srgbClr>
            </a:outerShdw>
          </a:effectLst>
        </p:spPr>
      </p:sp>
      <p:pic>
        <p:nvPicPr>
          <p:cNvPr id="19" name="Image 6" descr="C:\Users\Vikas\AppData\Local\Temp\claude\e--odoo-hackathon\d02bcbed-ac2c-44f2-a729-2f1ea408498c\scratchpad\ppt\out\card_ink.png"/>
          <p:cNvPicPr>
            <a:picLocks noChangeAspect="1"/>
          </p:cNvPicPr>
          <p:nvPr/>
        </p:nvPicPr>
        <p:blipFill>
          <a:blip r:embed="rId8"/>
          <a:stretch>
            <a:fillRect/>
          </a:stretch>
        </p:blipFill>
        <p:spPr>
          <a:xfrm>
            <a:off x="5838444" y="3584448"/>
            <a:ext cx="512064" cy="512064"/>
          </a:xfrm>
          <a:prstGeom prst="rect">
            <a:avLst/>
          </a:prstGeom>
        </p:spPr>
      </p:pic>
      <p:sp>
        <p:nvSpPr>
          <p:cNvPr id="20" name="Text 11"/>
          <p:cNvSpPr txBox="1"/>
          <p:nvPr/>
        </p:nvSpPr>
        <p:spPr>
          <a:xfrm>
            <a:off x="5157216" y="3520440"/>
            <a:ext cx="548640" cy="274320"/>
          </a:xfrm>
          <a:prstGeom prst="rect">
            <a:avLst/>
          </a:prstGeom>
          <a:noFill/>
          <a:ln/>
        </p:spPr>
        <p:txBody>
          <a:bodyPr wrap="square" lIns="0" tIns="0" rIns="0" bIns="0" rtlCol="0" anchor="ctr"/>
          <a:lstStyle/>
          <a:p>
            <a:pPr marL="0" indent="0">
              <a:buNone/>
            </a:pPr>
            <a:r>
              <a:rPr lang="en-US" sz="1100" b="1" dirty="0">
                <a:solidFill>
                  <a:srgbClr val="C9C6BE"/>
                </a:solidFill>
                <a:latin typeface="Arial" pitchFamily="34" charset="0"/>
                <a:ea typeface="Arial" pitchFamily="34" charset="-122"/>
                <a:cs typeface="Arial" pitchFamily="34" charset="-120"/>
              </a:rPr>
              <a:t>03</a:t>
            </a:r>
            <a:endParaRPr lang="en-US" sz="1100" dirty="0"/>
          </a:p>
        </p:txBody>
      </p:sp>
      <p:sp>
        <p:nvSpPr>
          <p:cNvPr id="21" name="Text 12"/>
          <p:cNvSpPr txBox="1"/>
          <p:nvPr/>
        </p:nvSpPr>
        <p:spPr>
          <a:xfrm>
            <a:off x="5111496" y="4206240"/>
            <a:ext cx="1965960" cy="274320"/>
          </a:xfrm>
          <a:prstGeom prst="rect">
            <a:avLst/>
          </a:prstGeom>
          <a:noFill/>
          <a:ln/>
        </p:spPr>
        <p:txBody>
          <a:bodyPr wrap="square" lIns="0" tIns="0" rIns="0" bIns="0" rtlCol="0" anchor="ctr"/>
          <a:lstStyle/>
          <a:p>
            <a:pPr marL="0" indent="0" algn="ctr">
              <a:buNone/>
            </a:pPr>
            <a:r>
              <a:rPr lang="en-US" sz="1300" b="1" kern="0" spc="50" dirty="0">
                <a:solidFill>
                  <a:srgbClr val="E53935"/>
                </a:solidFill>
                <a:latin typeface="Arial" pitchFamily="34" charset="0"/>
                <a:ea typeface="Arial" pitchFamily="34" charset="-122"/>
                <a:cs typeface="Arial" pitchFamily="34" charset="-120"/>
              </a:rPr>
              <a:t>BOOK</a:t>
            </a:r>
            <a:endParaRPr lang="en-US" sz="1300" dirty="0"/>
          </a:p>
        </p:txBody>
      </p:sp>
      <p:sp>
        <p:nvSpPr>
          <p:cNvPr id="22" name="Text 13"/>
          <p:cNvSpPr txBox="1"/>
          <p:nvPr/>
        </p:nvSpPr>
        <p:spPr>
          <a:xfrm>
            <a:off x="5157216" y="4572000"/>
            <a:ext cx="1874520" cy="1051560"/>
          </a:xfrm>
          <a:prstGeom prst="rect">
            <a:avLst/>
          </a:prstGeom>
          <a:noFill/>
          <a:ln/>
        </p:spPr>
        <p:txBody>
          <a:bodyPr wrap="square" lIns="0" tIns="0" rIns="0" bIns="0" rtlCol="0" anchor="ctr"/>
          <a:lstStyle/>
          <a:p>
            <a:pPr marL="0" indent="0" algn="ctr">
              <a:lnSpc>
                <a:spcPct val="115000"/>
              </a:lnSpc>
              <a:buNone/>
            </a:pPr>
            <a:r>
              <a:rPr lang="en-US" sz="950" dirty="0">
                <a:solidFill>
                  <a:srgbClr val="111111"/>
                </a:solidFill>
                <a:latin typeface="Arial" pitchFamily="34" charset="0"/>
                <a:ea typeface="Arial" pitchFamily="34" charset="-122"/>
                <a:cs typeface="Arial" pitchFamily="34" charset="-120"/>
              </a:rPr>
              <a:t>Server checks → reserve 10 min → confirm</a:t>
            </a:r>
            <a:endParaRPr lang="en-US" sz="950" dirty="0"/>
          </a:p>
        </p:txBody>
      </p:sp>
      <p:sp>
        <p:nvSpPr>
          <p:cNvPr id="23" name="Shape 14"/>
          <p:cNvSpPr/>
          <p:nvPr/>
        </p:nvSpPr>
        <p:spPr>
          <a:xfrm>
            <a:off x="7278624" y="3383280"/>
            <a:ext cx="2148840" cy="2331720"/>
          </a:xfrm>
          <a:prstGeom prst="roundRect">
            <a:avLst>
              <a:gd name="adj" fmla="val 2553"/>
            </a:avLst>
          </a:prstGeom>
          <a:solidFill>
            <a:srgbClr val="FFFFFF"/>
          </a:solidFill>
          <a:ln w="9525">
            <a:solidFill>
              <a:srgbClr val="C9C6BE"/>
            </a:solidFill>
            <a:prstDash val="solid"/>
          </a:ln>
          <a:effectLst>
            <a:outerShdw blurRad="76200" dist="25400" dir="5400000" algn="bl" rotWithShape="0">
              <a:srgbClr val="000000">
                <a:alpha val="13000"/>
              </a:srgbClr>
            </a:outerShdw>
          </a:effectLst>
        </p:spPr>
      </p:sp>
      <p:pic>
        <p:nvPicPr>
          <p:cNvPr id="24" name="Image 7" descr="C:\Users\Vikas\AppData\Local\Temp\claude\e--odoo-hackathon\d02bcbed-ac2c-44f2-a729-2f1ea408498c\scratchpad\ppt\out\group_ink.png"/>
          <p:cNvPicPr>
            <a:picLocks noChangeAspect="1"/>
          </p:cNvPicPr>
          <p:nvPr/>
        </p:nvPicPr>
        <p:blipFill>
          <a:blip r:embed="rId9"/>
          <a:stretch>
            <a:fillRect/>
          </a:stretch>
        </p:blipFill>
        <p:spPr>
          <a:xfrm>
            <a:off x="8097012" y="3584448"/>
            <a:ext cx="512064" cy="512064"/>
          </a:xfrm>
          <a:prstGeom prst="rect">
            <a:avLst/>
          </a:prstGeom>
        </p:spPr>
      </p:pic>
      <p:sp>
        <p:nvSpPr>
          <p:cNvPr id="25" name="Text 15"/>
          <p:cNvSpPr txBox="1"/>
          <p:nvPr/>
        </p:nvSpPr>
        <p:spPr>
          <a:xfrm>
            <a:off x="7415784" y="3520440"/>
            <a:ext cx="548640" cy="274320"/>
          </a:xfrm>
          <a:prstGeom prst="rect">
            <a:avLst/>
          </a:prstGeom>
          <a:noFill/>
          <a:ln/>
        </p:spPr>
        <p:txBody>
          <a:bodyPr wrap="square" lIns="0" tIns="0" rIns="0" bIns="0" rtlCol="0" anchor="ctr"/>
          <a:lstStyle/>
          <a:p>
            <a:pPr marL="0" indent="0">
              <a:buNone/>
            </a:pPr>
            <a:r>
              <a:rPr lang="en-US" sz="1100" b="1" dirty="0">
                <a:solidFill>
                  <a:srgbClr val="C9C6BE"/>
                </a:solidFill>
                <a:latin typeface="Arial" pitchFamily="34" charset="0"/>
                <a:ea typeface="Arial" pitchFamily="34" charset="-122"/>
                <a:cs typeface="Arial" pitchFamily="34" charset="-120"/>
              </a:rPr>
              <a:t>04</a:t>
            </a:r>
            <a:endParaRPr lang="en-US" sz="1100" dirty="0"/>
          </a:p>
        </p:txBody>
      </p:sp>
      <p:sp>
        <p:nvSpPr>
          <p:cNvPr id="26" name="Text 16"/>
          <p:cNvSpPr txBox="1"/>
          <p:nvPr/>
        </p:nvSpPr>
        <p:spPr>
          <a:xfrm>
            <a:off x="7370064" y="4206240"/>
            <a:ext cx="1965960" cy="274320"/>
          </a:xfrm>
          <a:prstGeom prst="rect">
            <a:avLst/>
          </a:prstGeom>
          <a:noFill/>
          <a:ln/>
        </p:spPr>
        <p:txBody>
          <a:bodyPr wrap="square" lIns="0" tIns="0" rIns="0" bIns="0" rtlCol="0" anchor="ctr"/>
          <a:lstStyle/>
          <a:p>
            <a:pPr marL="0" indent="0" algn="ctr">
              <a:buNone/>
            </a:pPr>
            <a:r>
              <a:rPr lang="en-US" sz="1300" b="1" kern="0" spc="50" dirty="0">
                <a:solidFill>
                  <a:srgbClr val="E53935"/>
                </a:solidFill>
                <a:latin typeface="Arial" pitchFamily="34" charset="0"/>
                <a:ea typeface="Arial" pitchFamily="34" charset="-122"/>
                <a:cs typeface="Arial" pitchFamily="34" charset="-120"/>
              </a:rPr>
              <a:t>CONNECT</a:t>
            </a:r>
            <a:endParaRPr lang="en-US" sz="1300" dirty="0"/>
          </a:p>
        </p:txBody>
      </p:sp>
      <p:sp>
        <p:nvSpPr>
          <p:cNvPr id="27" name="Text 17"/>
          <p:cNvSpPr txBox="1"/>
          <p:nvPr/>
        </p:nvSpPr>
        <p:spPr>
          <a:xfrm>
            <a:off x="7415784" y="4572000"/>
            <a:ext cx="1874520" cy="1051560"/>
          </a:xfrm>
          <a:prstGeom prst="rect">
            <a:avLst/>
          </a:prstGeom>
          <a:noFill/>
          <a:ln/>
        </p:spPr>
        <p:txBody>
          <a:bodyPr wrap="square" lIns="0" tIns="0" rIns="0" bIns="0" rtlCol="0" anchor="ctr"/>
          <a:lstStyle/>
          <a:p>
            <a:pPr marL="0" indent="0" algn="ctr">
              <a:lnSpc>
                <a:spcPct val="115000"/>
              </a:lnSpc>
              <a:buNone/>
            </a:pPr>
            <a:r>
              <a:rPr lang="en-US" sz="950" dirty="0">
                <a:solidFill>
                  <a:srgbClr val="111111"/>
                </a:solidFill>
                <a:latin typeface="Arial" pitchFamily="34" charset="0"/>
                <a:ea typeface="Arial" pitchFamily="34" charset="-122"/>
                <a:cs typeface="Arial" pitchFamily="34" charset="-120"/>
              </a:rPr>
              <a:t>Find match → create or join → meet players</a:t>
            </a:r>
            <a:endParaRPr lang="en-US" sz="950" dirty="0"/>
          </a:p>
        </p:txBody>
      </p:sp>
      <p:sp>
        <p:nvSpPr>
          <p:cNvPr id="28" name="Shape 18"/>
          <p:cNvSpPr/>
          <p:nvPr/>
        </p:nvSpPr>
        <p:spPr>
          <a:xfrm>
            <a:off x="9537192" y="3383280"/>
            <a:ext cx="2148840" cy="2331720"/>
          </a:xfrm>
          <a:prstGeom prst="roundRect">
            <a:avLst>
              <a:gd name="adj" fmla="val 2553"/>
            </a:avLst>
          </a:prstGeom>
          <a:solidFill>
            <a:srgbClr val="FFFFFF"/>
          </a:solidFill>
          <a:ln w="9525">
            <a:solidFill>
              <a:srgbClr val="C9C6BE"/>
            </a:solidFill>
            <a:prstDash val="solid"/>
          </a:ln>
          <a:effectLst>
            <a:outerShdw blurRad="76200" dist="25400" dir="5400000" algn="bl" rotWithShape="0">
              <a:srgbClr val="000000">
                <a:alpha val="13000"/>
              </a:srgbClr>
            </a:outerShdw>
          </a:effectLst>
        </p:spPr>
      </p:sp>
      <p:pic>
        <p:nvPicPr>
          <p:cNvPr id="29" name="Image 8" descr="C:\Users\Vikas\AppData\Local\Temp\claude\e--odoo-hackathon\d02bcbed-ac2c-44f2-a729-2f1ea408498c\scratchpad\ppt\out\football_red.png"/>
          <p:cNvPicPr>
            <a:picLocks noChangeAspect="1"/>
          </p:cNvPicPr>
          <p:nvPr/>
        </p:nvPicPr>
        <p:blipFill>
          <a:blip r:embed="rId10"/>
          <a:stretch>
            <a:fillRect/>
          </a:stretch>
        </p:blipFill>
        <p:spPr>
          <a:xfrm>
            <a:off x="10355580" y="3584448"/>
            <a:ext cx="512064" cy="512064"/>
          </a:xfrm>
          <a:prstGeom prst="rect">
            <a:avLst/>
          </a:prstGeom>
        </p:spPr>
      </p:pic>
      <p:sp>
        <p:nvSpPr>
          <p:cNvPr id="30" name="Text 19"/>
          <p:cNvSpPr txBox="1"/>
          <p:nvPr/>
        </p:nvSpPr>
        <p:spPr>
          <a:xfrm>
            <a:off x="9674352" y="3520440"/>
            <a:ext cx="548640" cy="274320"/>
          </a:xfrm>
          <a:prstGeom prst="rect">
            <a:avLst/>
          </a:prstGeom>
          <a:noFill/>
          <a:ln/>
        </p:spPr>
        <p:txBody>
          <a:bodyPr wrap="square" lIns="0" tIns="0" rIns="0" bIns="0" rtlCol="0" anchor="ctr"/>
          <a:lstStyle/>
          <a:p>
            <a:pPr marL="0" indent="0">
              <a:buNone/>
            </a:pPr>
            <a:r>
              <a:rPr lang="en-US" sz="1100" b="1" dirty="0">
                <a:solidFill>
                  <a:srgbClr val="C9C6BE"/>
                </a:solidFill>
                <a:latin typeface="Arial" pitchFamily="34" charset="0"/>
                <a:ea typeface="Arial" pitchFamily="34" charset="-122"/>
                <a:cs typeface="Arial" pitchFamily="34" charset="-120"/>
              </a:rPr>
              <a:t>05</a:t>
            </a:r>
            <a:endParaRPr lang="en-US" sz="1100" dirty="0"/>
          </a:p>
        </p:txBody>
      </p:sp>
      <p:sp>
        <p:nvSpPr>
          <p:cNvPr id="31" name="Text 20"/>
          <p:cNvSpPr txBox="1"/>
          <p:nvPr/>
        </p:nvSpPr>
        <p:spPr>
          <a:xfrm>
            <a:off x="9628632" y="4206240"/>
            <a:ext cx="1965960" cy="274320"/>
          </a:xfrm>
          <a:prstGeom prst="rect">
            <a:avLst/>
          </a:prstGeom>
          <a:noFill/>
          <a:ln/>
        </p:spPr>
        <p:txBody>
          <a:bodyPr wrap="square" lIns="0" tIns="0" rIns="0" bIns="0" rtlCol="0" anchor="ctr"/>
          <a:lstStyle/>
          <a:p>
            <a:pPr marL="0" indent="0" algn="ctr">
              <a:buNone/>
            </a:pPr>
            <a:r>
              <a:rPr lang="en-US" sz="1300" b="1" kern="0" spc="50" dirty="0">
                <a:solidFill>
                  <a:srgbClr val="E53935"/>
                </a:solidFill>
                <a:latin typeface="Arial" pitchFamily="34" charset="0"/>
                <a:ea typeface="Arial" pitchFamily="34" charset="-122"/>
                <a:cs typeface="Arial" pitchFamily="34" charset="-120"/>
              </a:rPr>
              <a:t>RETURN</a:t>
            </a:r>
            <a:endParaRPr lang="en-US" sz="1300" dirty="0"/>
          </a:p>
        </p:txBody>
      </p:sp>
      <p:sp>
        <p:nvSpPr>
          <p:cNvPr id="32" name="Text 21"/>
          <p:cNvSpPr txBox="1"/>
          <p:nvPr/>
        </p:nvSpPr>
        <p:spPr>
          <a:xfrm>
            <a:off x="9674352" y="4572000"/>
            <a:ext cx="1874520" cy="1051560"/>
          </a:xfrm>
          <a:prstGeom prst="rect">
            <a:avLst/>
          </a:prstGeom>
          <a:noFill/>
          <a:ln/>
        </p:spPr>
        <p:txBody>
          <a:bodyPr wrap="square" lIns="0" tIns="0" rIns="0" bIns="0" rtlCol="0" anchor="ctr"/>
          <a:lstStyle/>
          <a:p>
            <a:pPr marL="0" indent="0" algn="ctr">
              <a:lnSpc>
                <a:spcPct val="115000"/>
              </a:lnSpc>
              <a:buNone/>
            </a:pPr>
            <a:r>
              <a:rPr lang="en-US" sz="950" dirty="0">
                <a:solidFill>
                  <a:srgbClr val="111111"/>
                </a:solidFill>
                <a:latin typeface="Arial" pitchFamily="34" charset="0"/>
                <a:ea typeface="Arial" pitchFamily="34" charset="-122"/>
                <a:cs typeface="Arial" pitchFamily="34" charset="-120"/>
              </a:rPr>
              <a:t>Complete game → review venue → book again</a:t>
            </a:r>
            <a:endParaRPr lang="en-US" sz="950" dirty="0"/>
          </a:p>
        </p:txBody>
      </p:sp>
      <p:sp>
        <p:nvSpPr>
          <p:cNvPr id="33" name="Text 22"/>
          <p:cNvSpPr txBox="1"/>
          <p:nvPr/>
        </p:nvSpPr>
        <p:spPr>
          <a:xfrm>
            <a:off x="502920" y="5989320"/>
            <a:ext cx="11155680" cy="365760"/>
          </a:xfrm>
          <a:prstGeom prst="rect">
            <a:avLst/>
          </a:prstGeom>
          <a:noFill/>
          <a:ln/>
        </p:spPr>
        <p:txBody>
          <a:bodyPr wrap="square" lIns="0" tIns="0" rIns="0" bIns="0" rtlCol="0" anchor="ctr"/>
          <a:lstStyle/>
          <a:p>
            <a:pPr marL="0" indent="0" algn="ctr">
              <a:buNone/>
            </a:pPr>
            <a:r>
              <a:rPr lang="en-US" sz="1100" b="1" kern="0" spc="100" dirty="0">
                <a:solidFill>
                  <a:srgbClr val="6B6B67"/>
                </a:solidFill>
                <a:latin typeface="Arial" pitchFamily="34" charset="0"/>
                <a:ea typeface="Arial" pitchFamily="34" charset="-122"/>
                <a:cs typeface="Arial" pitchFamily="34" charset="-120"/>
              </a:rPr>
              <a:t>NO DOUBLE BOOKING  ·  AUTO AVAILABILITY  ·  SERVER-SIDE PRICE  ·  ROLE-BASED ACCESS</a:t>
            </a:r>
            <a:endParaRPr lang="en-US" sz="1100" dirty="0"/>
          </a:p>
        </p:txBody>
      </p:sp>
      <p:sp>
        <p:nvSpPr>
          <p:cNvPr id="34" name="Text 23"/>
          <p:cNvSpPr txBox="1"/>
          <p:nvPr/>
        </p:nvSpPr>
        <p:spPr>
          <a:xfrm>
            <a:off x="457200" y="6528816"/>
            <a:ext cx="2743200" cy="256032"/>
          </a:xfrm>
          <a:prstGeom prst="rect">
            <a:avLst/>
          </a:prstGeom>
          <a:noFill/>
          <a:ln/>
        </p:spPr>
        <p:txBody>
          <a:bodyPr wrap="square" lIns="0" tIns="0" rIns="0" bIns="0" rtlCol="0" anchor="ctr"/>
          <a:lstStyle/>
          <a:p>
            <a:pPr marL="0" indent="0">
              <a:buNone/>
            </a:pPr>
            <a:r>
              <a:rPr lang="en-US" sz="800" dirty="0">
                <a:solidFill>
                  <a:srgbClr val="6B6B67"/>
                </a:solidFill>
                <a:latin typeface="Arial" pitchFamily="34" charset="0"/>
                <a:ea typeface="Arial" pitchFamily="34" charset="-122"/>
                <a:cs typeface="Arial" pitchFamily="34" charset="-120"/>
              </a:rPr>
              <a:t>QUICKCOURT / 2026</a:t>
            </a:r>
            <a:endParaRPr lang="en-US" sz="800" dirty="0"/>
          </a:p>
        </p:txBody>
      </p:sp>
      <p:sp>
        <p:nvSpPr>
          <p:cNvPr id="35" name="Text 24"/>
          <p:cNvSpPr txBox="1"/>
          <p:nvPr/>
        </p:nvSpPr>
        <p:spPr>
          <a:xfrm>
            <a:off x="4480560" y="6528816"/>
            <a:ext cx="3200400" cy="256032"/>
          </a:xfrm>
          <a:prstGeom prst="rect">
            <a:avLst/>
          </a:prstGeom>
          <a:noFill/>
          <a:ln/>
        </p:spPr>
        <p:txBody>
          <a:bodyPr wrap="square" lIns="0" tIns="0" rIns="0" bIns="0" rtlCol="0" anchor="ctr"/>
          <a:lstStyle/>
          <a:p>
            <a:pPr marL="0" indent="0" algn="ctr">
              <a:buNone/>
            </a:pPr>
            <a:r>
              <a:rPr lang="en-US" sz="800" kern="0" spc="200" dirty="0">
                <a:solidFill>
                  <a:srgbClr val="6B6B67"/>
                </a:solidFill>
                <a:latin typeface="Arial" pitchFamily="34" charset="0"/>
                <a:ea typeface="Arial" pitchFamily="34" charset="-122"/>
                <a:cs typeface="Arial" pitchFamily="34" charset="-120"/>
              </a:rPr>
              <a:t>THE JOURNEY</a:t>
            </a:r>
            <a:endParaRPr lang="en-US" sz="800" dirty="0"/>
          </a:p>
        </p:txBody>
      </p:sp>
      <p:sp>
        <p:nvSpPr>
          <p:cNvPr id="36" name="Text 25"/>
          <p:cNvSpPr txBox="1"/>
          <p:nvPr/>
        </p:nvSpPr>
        <p:spPr>
          <a:xfrm>
            <a:off x="10332720" y="6528816"/>
            <a:ext cx="1371600" cy="256032"/>
          </a:xfrm>
          <a:prstGeom prst="rect">
            <a:avLst/>
          </a:prstGeom>
          <a:noFill/>
          <a:ln/>
        </p:spPr>
        <p:txBody>
          <a:bodyPr wrap="square" lIns="0" tIns="0" rIns="0" bIns="0" rtlCol="0" anchor="ctr"/>
          <a:lstStyle/>
          <a:p>
            <a:pPr marL="0" indent="0" algn="r">
              <a:buNone/>
            </a:pPr>
            <a:r>
              <a:rPr lang="en-US" sz="800" b="1" dirty="0">
                <a:solidFill>
                  <a:srgbClr val="E53935"/>
                </a:solidFill>
                <a:latin typeface="Arial" pitchFamily="34" charset="0"/>
                <a:ea typeface="Arial" pitchFamily="34" charset="-122"/>
                <a:cs typeface="Arial" pitchFamily="34" charset="-120"/>
              </a:rPr>
              <a:t>06</a:t>
            </a:r>
            <a:r>
              <a:rPr lang="en-US" sz="800" dirty="0">
                <a:solidFill>
                  <a:srgbClr val="6B6B67"/>
                </a:solidFill>
                <a:latin typeface="Arial" pitchFamily="34" charset="0"/>
                <a:ea typeface="Arial" pitchFamily="34" charset="-122"/>
                <a:cs typeface="Arial" pitchFamily="34" charset="-120"/>
              </a:rPr>
              <a:t> / 08</a:t>
            </a:r>
            <a:endParaRPr lang="en-US" sz="800"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4EE"/>
        </a:solidFill>
        <a:effectLst/>
      </p:bgPr>
    </p:bg>
    <p:spTree>
      <p:nvGrpSpPr>
        <p:cNvPr id="1" name=""/>
        <p:cNvGrpSpPr/>
        <p:nvPr/>
      </p:nvGrpSpPr>
      <p:grpSpPr>
        <a:xfrm>
          <a:off x="0" y="0"/>
          <a:ext cx="0" cy="0"/>
          <a:chOff x="0" y="0"/>
          <a:chExt cx="0" cy="0"/>
        </a:xfrm>
      </p:grpSpPr>
      <p:pic>
        <p:nvPicPr>
          <p:cNvPr id="2" name="Image 0" descr="C:\Users\Vikas\AppData\Local\Temp\claude\e--odoo-hackathon\d02bcbed-ac2c-44f2-a729-2f1ea408498c\scratchpad\ppt\out\tennis_racket_ink.png"/>
          <p:cNvPicPr>
            <a:picLocks noChangeAspect="1"/>
          </p:cNvPicPr>
          <p:nvPr/>
        </p:nvPicPr>
        <p:blipFill>
          <a:blip r:embed="rId3">
            <a:alphaModFix amt="92000"/>
          </a:blip>
          <a:stretch>
            <a:fillRect/>
          </a:stretch>
        </p:blipFill>
        <p:spPr>
          <a:xfrm rot="-1080000">
            <a:off x="-365760" y="-548640"/>
            <a:ext cx="914400" cy="1828800"/>
          </a:xfrm>
          <a:prstGeom prst="rect">
            <a:avLst/>
          </a:prstGeom>
        </p:spPr>
      </p:pic>
      <p:pic>
        <p:nvPicPr>
          <p:cNvPr id="3" name="Image 1" descr="C:\Users\Vikas\AppData\Local\Temp\claude\e--odoo-hackathon\d02bcbed-ac2c-44f2-a729-2f1ea408498c\scratchpad\ppt\out\football_ink.png"/>
          <p:cNvPicPr>
            <a:picLocks noChangeAspect="1"/>
          </p:cNvPicPr>
          <p:nvPr/>
        </p:nvPicPr>
        <p:blipFill>
          <a:blip r:embed="rId4">
            <a:alphaModFix amt="92000"/>
          </a:blip>
          <a:stretch>
            <a:fillRect/>
          </a:stretch>
        </p:blipFill>
        <p:spPr>
          <a:xfrm rot="-1200000">
            <a:off x="11612880" y="-274320"/>
            <a:ext cx="960120" cy="960120"/>
          </a:xfrm>
          <a:prstGeom prst="rect">
            <a:avLst/>
          </a:prstGeom>
        </p:spPr>
      </p:pic>
      <p:pic>
        <p:nvPicPr>
          <p:cNvPr id="4" name="Image 2" descr="C:\Users\Vikas\AppData\Local\Temp\claude\e--odoo-hackathon\d02bcbed-ac2c-44f2-a729-2f1ea408498c\scratchpad\ppt\out\shuttle_ink.png"/>
          <p:cNvPicPr>
            <a:picLocks noChangeAspect="1"/>
          </p:cNvPicPr>
          <p:nvPr/>
        </p:nvPicPr>
        <p:blipFill>
          <a:blip r:embed="rId5">
            <a:alphaModFix amt="92000"/>
          </a:blip>
          <a:stretch>
            <a:fillRect/>
          </a:stretch>
        </p:blipFill>
        <p:spPr>
          <a:xfrm rot="900000">
            <a:off x="-274320" y="6035040"/>
            <a:ext cx="777240" cy="1097280"/>
          </a:xfrm>
          <a:prstGeom prst="rect">
            <a:avLst/>
          </a:prstGeom>
        </p:spPr>
      </p:pic>
      <p:pic>
        <p:nvPicPr>
          <p:cNvPr id="5" name="Image 3" descr="C:\Users\Vikas\AppData\Local\Temp\claude\e--odoo-hackathon\d02bcbed-ac2c-44f2-a729-2f1ea408498c\scratchpad\ppt\out\ball_ink.png"/>
          <p:cNvPicPr>
            <a:picLocks noChangeAspect="1"/>
          </p:cNvPicPr>
          <p:nvPr/>
        </p:nvPicPr>
        <p:blipFill>
          <a:blip r:embed="rId6">
            <a:alphaModFix amt="92000"/>
          </a:blip>
          <a:stretch>
            <a:fillRect/>
          </a:stretch>
        </p:blipFill>
        <p:spPr>
          <a:xfrm rot="600000">
            <a:off x="11658600" y="5989320"/>
            <a:ext cx="868680" cy="868680"/>
          </a:xfrm>
          <a:prstGeom prst="rect">
            <a:avLst/>
          </a:prstGeom>
        </p:spPr>
      </p:pic>
      <p:sp>
        <p:nvSpPr>
          <p:cNvPr id="6" name="Text 0"/>
          <p:cNvSpPr txBox="1"/>
          <p:nvPr/>
        </p:nvSpPr>
        <p:spPr>
          <a:xfrm>
            <a:off x="548640" y="384048"/>
            <a:ext cx="7315200" cy="292608"/>
          </a:xfrm>
          <a:prstGeom prst="rect">
            <a:avLst/>
          </a:prstGeom>
          <a:noFill/>
          <a:ln/>
        </p:spPr>
        <p:txBody>
          <a:bodyPr wrap="square" lIns="0" tIns="0" rIns="0" bIns="0" rtlCol="0" anchor="ctr"/>
          <a:lstStyle/>
          <a:p>
            <a:pPr marL="0" indent="0">
              <a:buNone/>
            </a:pPr>
            <a:r>
              <a:rPr lang="en-US" sz="1100" b="1" kern="0" spc="200" dirty="0">
                <a:solidFill>
                  <a:srgbClr val="6B6B67"/>
                </a:solidFill>
                <a:latin typeface="Arial" pitchFamily="34" charset="0"/>
                <a:ea typeface="Arial" pitchFamily="34" charset="-122"/>
                <a:cs typeface="Arial" pitchFamily="34" charset="-120"/>
              </a:rPr>
              <a:t>RESEARCH SOURCES</a:t>
            </a:r>
            <a:endParaRPr lang="en-US" sz="1100" dirty="0"/>
          </a:p>
        </p:txBody>
      </p:sp>
      <p:sp>
        <p:nvSpPr>
          <p:cNvPr id="7" name="Text 1"/>
          <p:cNvSpPr txBox="1"/>
          <p:nvPr/>
        </p:nvSpPr>
        <p:spPr>
          <a:xfrm>
            <a:off x="502920" y="621792"/>
            <a:ext cx="10515600" cy="548640"/>
          </a:xfrm>
          <a:prstGeom prst="rect">
            <a:avLst/>
          </a:prstGeom>
          <a:noFill/>
          <a:ln/>
        </p:spPr>
        <p:txBody>
          <a:bodyPr wrap="square" lIns="0" tIns="0" rIns="0" bIns="0" rtlCol="0" anchor="ctr"/>
          <a:lstStyle/>
          <a:p>
            <a:pPr marL="0" indent="0">
              <a:buNone/>
            </a:pPr>
            <a:r>
              <a:rPr lang="en-US" sz="2400" b="1" dirty="0">
                <a:solidFill>
                  <a:srgbClr val="111111"/>
                </a:solidFill>
                <a:latin typeface="Arial" pitchFamily="34" charset="0"/>
                <a:ea typeface="Arial" pitchFamily="34" charset="-122"/>
                <a:cs typeface="Arial" pitchFamily="34" charset="-120"/>
              </a:rPr>
              <a:t>WE STUDIED HOW PEOPLE ALREADY BOOK &amp; PLAY</a:t>
            </a:r>
            <a:endParaRPr lang="en-US" sz="2400" dirty="0"/>
          </a:p>
        </p:txBody>
      </p:sp>
      <p:sp>
        <p:nvSpPr>
          <p:cNvPr id="8" name="Text 2"/>
          <p:cNvSpPr txBox="1"/>
          <p:nvPr/>
        </p:nvSpPr>
        <p:spPr>
          <a:xfrm>
            <a:off x="1371600" y="1508760"/>
            <a:ext cx="2103120" cy="274320"/>
          </a:xfrm>
          <a:prstGeom prst="rect">
            <a:avLst/>
          </a:prstGeom>
          <a:noFill/>
          <a:ln/>
        </p:spPr>
        <p:txBody>
          <a:bodyPr wrap="square" lIns="0" tIns="0" rIns="0" bIns="0" rtlCol="0" anchor="ctr"/>
          <a:lstStyle/>
          <a:p>
            <a:pPr marL="0" indent="0">
              <a:buNone/>
            </a:pPr>
            <a:r>
              <a:rPr lang="en-US" sz="1000" b="1" kern="0" spc="150" dirty="0">
                <a:solidFill>
                  <a:srgbClr val="6B6B67"/>
                </a:solidFill>
                <a:latin typeface="Arial" pitchFamily="34" charset="0"/>
                <a:ea typeface="Arial" pitchFamily="34" charset="-122"/>
                <a:cs typeface="Arial" pitchFamily="34" charset="-120"/>
              </a:rPr>
              <a:t>PLATFORM</a:t>
            </a:r>
            <a:endParaRPr lang="en-US" sz="1000" dirty="0"/>
          </a:p>
        </p:txBody>
      </p:sp>
      <p:sp>
        <p:nvSpPr>
          <p:cNvPr id="9" name="Text 3"/>
          <p:cNvSpPr txBox="1"/>
          <p:nvPr/>
        </p:nvSpPr>
        <p:spPr>
          <a:xfrm>
            <a:off x="3657600" y="1508760"/>
            <a:ext cx="3840480" cy="274320"/>
          </a:xfrm>
          <a:prstGeom prst="rect">
            <a:avLst/>
          </a:prstGeom>
          <a:noFill/>
          <a:ln/>
        </p:spPr>
        <p:txBody>
          <a:bodyPr wrap="square" lIns="0" tIns="0" rIns="0" bIns="0" rtlCol="0" anchor="ctr"/>
          <a:lstStyle/>
          <a:p>
            <a:pPr marL="0" indent="0">
              <a:buNone/>
            </a:pPr>
            <a:r>
              <a:rPr lang="en-US" sz="1000" b="1" kern="0" spc="150" dirty="0">
                <a:solidFill>
                  <a:srgbClr val="6B6B67"/>
                </a:solidFill>
                <a:latin typeface="Arial" pitchFamily="34" charset="0"/>
                <a:ea typeface="Arial" pitchFamily="34" charset="-122"/>
                <a:cs typeface="Arial" pitchFamily="34" charset="-120"/>
              </a:rPr>
              <a:t>WHAT WE OBSERVED</a:t>
            </a:r>
            <a:endParaRPr lang="en-US" sz="1000" dirty="0"/>
          </a:p>
        </p:txBody>
      </p:sp>
      <p:sp>
        <p:nvSpPr>
          <p:cNvPr id="10" name="Text 4"/>
          <p:cNvSpPr txBox="1"/>
          <p:nvPr/>
        </p:nvSpPr>
        <p:spPr>
          <a:xfrm>
            <a:off x="7680960" y="1508760"/>
            <a:ext cx="3931920" cy="274320"/>
          </a:xfrm>
          <a:prstGeom prst="rect">
            <a:avLst/>
          </a:prstGeom>
          <a:noFill/>
          <a:ln/>
        </p:spPr>
        <p:txBody>
          <a:bodyPr wrap="square" lIns="0" tIns="0" rIns="0" bIns="0" rtlCol="0" anchor="ctr"/>
          <a:lstStyle/>
          <a:p>
            <a:pPr marL="0" indent="0">
              <a:buNone/>
            </a:pPr>
            <a:r>
              <a:rPr lang="en-US" sz="1000" b="1" kern="0" spc="150" dirty="0">
                <a:solidFill>
                  <a:srgbClr val="6B6B67"/>
                </a:solidFill>
                <a:latin typeface="Arial" pitchFamily="34" charset="0"/>
                <a:ea typeface="Arial" pitchFamily="34" charset="-122"/>
                <a:cs typeface="Arial" pitchFamily="34" charset="-120"/>
              </a:rPr>
              <a:t>RELEVANCE TO QUICKCOURT</a:t>
            </a:r>
            <a:endParaRPr lang="en-US" sz="1000" dirty="0"/>
          </a:p>
        </p:txBody>
      </p:sp>
      <p:sp>
        <p:nvSpPr>
          <p:cNvPr id="11" name="Shape 5"/>
          <p:cNvSpPr/>
          <p:nvPr/>
        </p:nvSpPr>
        <p:spPr>
          <a:xfrm>
            <a:off x="548640" y="1874520"/>
            <a:ext cx="11064240" cy="914400"/>
          </a:xfrm>
          <a:prstGeom prst="roundRect">
            <a:avLst>
              <a:gd name="adj" fmla="val 6000"/>
            </a:avLst>
          </a:prstGeom>
          <a:solidFill>
            <a:srgbClr val="FFFFFF"/>
          </a:solidFill>
          <a:ln w="9525">
            <a:solidFill>
              <a:srgbClr val="C9C6BE"/>
            </a:solidFill>
            <a:prstDash val="solid"/>
          </a:ln>
          <a:effectLst>
            <a:outerShdw blurRad="63500" dist="25400" dir="5400000" algn="bl" rotWithShape="0">
              <a:srgbClr val="000000">
                <a:alpha val="10000"/>
              </a:srgbClr>
            </a:outerShdw>
          </a:effectLst>
        </p:spPr>
      </p:sp>
      <p:pic>
        <p:nvPicPr>
          <p:cNvPr id="12" name="Image 4" descr="C:\Users\Vikas\AppData\Local\Temp\claude\e--odoo-hackathon\d02bcbed-ac2c-44f2-a729-2f1ea408498c\scratchpad\ppt\out\card_ink.png"/>
          <p:cNvPicPr>
            <a:picLocks noChangeAspect="1"/>
          </p:cNvPicPr>
          <p:nvPr/>
        </p:nvPicPr>
        <p:blipFill>
          <a:blip r:embed="rId7"/>
          <a:stretch>
            <a:fillRect/>
          </a:stretch>
        </p:blipFill>
        <p:spPr>
          <a:xfrm>
            <a:off x="749808" y="2112264"/>
            <a:ext cx="438912" cy="438912"/>
          </a:xfrm>
          <a:prstGeom prst="rect">
            <a:avLst/>
          </a:prstGeom>
        </p:spPr>
      </p:pic>
      <p:sp>
        <p:nvSpPr>
          <p:cNvPr id="13" name="Text 6"/>
          <p:cNvSpPr txBox="1"/>
          <p:nvPr/>
        </p:nvSpPr>
        <p:spPr>
          <a:xfrm>
            <a:off x="1325880" y="1874520"/>
            <a:ext cx="2194560" cy="914400"/>
          </a:xfrm>
          <a:prstGeom prst="rect">
            <a:avLst/>
          </a:prstGeom>
          <a:noFill/>
          <a:ln/>
        </p:spPr>
        <p:txBody>
          <a:bodyPr wrap="square" lIns="0" tIns="0" rIns="0" bIns="0" rtlCol="0" anchor="ctr"/>
          <a:lstStyle/>
          <a:p>
            <a:pPr marL="0" indent="0">
              <a:buNone/>
            </a:pPr>
            <a:r>
              <a:rPr lang="en-US" sz="1250" b="1" dirty="0">
                <a:solidFill>
                  <a:srgbClr val="E53935"/>
                </a:solidFill>
                <a:latin typeface="Arial" pitchFamily="34" charset="0"/>
                <a:ea typeface="Arial" pitchFamily="34" charset="-122"/>
                <a:cs typeface="Arial" pitchFamily="34" charset="-120"/>
              </a:rPr>
              <a:t>PLAYO</a:t>
            </a:r>
            <a:endParaRPr lang="en-US" sz="1250" dirty="0"/>
          </a:p>
        </p:txBody>
      </p:sp>
      <p:sp>
        <p:nvSpPr>
          <p:cNvPr id="14" name="Text 7"/>
          <p:cNvSpPr txBox="1"/>
          <p:nvPr/>
        </p:nvSpPr>
        <p:spPr>
          <a:xfrm>
            <a:off x="3657600" y="1947672"/>
            <a:ext cx="3840480" cy="777240"/>
          </a:xfrm>
          <a:prstGeom prst="rect">
            <a:avLst/>
          </a:prstGeom>
          <a:noFill/>
          <a:ln/>
        </p:spPr>
        <p:txBody>
          <a:bodyPr wrap="square" lIns="0" tIns="0" rIns="0" bIns="0" rtlCol="0" anchor="ctr"/>
          <a:lstStyle/>
          <a:p>
            <a:pPr marL="0" indent="0">
              <a:lnSpc>
                <a:spcPct val="110000"/>
              </a:lnSpc>
              <a:buNone/>
            </a:pPr>
            <a:r>
              <a:rPr lang="en-US" sz="1000" dirty="0">
                <a:solidFill>
                  <a:srgbClr val="111111"/>
                </a:solidFill>
                <a:latin typeface="Arial" pitchFamily="34" charset="0"/>
                <a:ea typeface="Arial" pitchFamily="34" charset="-122"/>
                <a:cs typeface="Arial" pitchFamily="34" charset="-120"/>
              </a:rPr>
              <a:t>Sports venue discovery, venue booking, joining games and finding players.</a:t>
            </a:r>
            <a:endParaRPr lang="en-US" sz="1000" dirty="0"/>
          </a:p>
        </p:txBody>
      </p:sp>
      <p:sp>
        <p:nvSpPr>
          <p:cNvPr id="15" name="Text 8"/>
          <p:cNvSpPr txBox="1"/>
          <p:nvPr/>
        </p:nvSpPr>
        <p:spPr>
          <a:xfrm>
            <a:off x="7680960" y="1947672"/>
            <a:ext cx="3794760" cy="777240"/>
          </a:xfrm>
          <a:prstGeom prst="rect">
            <a:avLst/>
          </a:prstGeom>
          <a:noFill/>
          <a:ln/>
        </p:spPr>
        <p:txBody>
          <a:bodyPr wrap="square" lIns="0" tIns="0" rIns="0" bIns="0" rtlCol="0" anchor="ctr"/>
          <a:lstStyle/>
          <a:p>
            <a:pPr marL="0" indent="0">
              <a:lnSpc>
                <a:spcPct val="110000"/>
              </a:lnSpc>
              <a:buNone/>
            </a:pPr>
            <a:r>
              <a:rPr lang="en-US" sz="1000" dirty="0">
                <a:solidFill>
                  <a:srgbClr val="6B6B67"/>
                </a:solidFill>
                <a:latin typeface="Arial" pitchFamily="34" charset="0"/>
                <a:ea typeface="Arial" pitchFamily="34" charset="-122"/>
                <a:cs typeface="Arial" pitchFamily="34" charset="-120"/>
              </a:rPr>
              <a:t>Validates the combined venue-booking + player-community model.</a:t>
            </a:r>
            <a:endParaRPr lang="en-US" sz="1000" dirty="0"/>
          </a:p>
        </p:txBody>
      </p:sp>
      <p:sp>
        <p:nvSpPr>
          <p:cNvPr id="16" name="Shape 9"/>
          <p:cNvSpPr/>
          <p:nvPr/>
        </p:nvSpPr>
        <p:spPr>
          <a:xfrm>
            <a:off x="548640" y="2926080"/>
            <a:ext cx="11064240" cy="914400"/>
          </a:xfrm>
          <a:prstGeom prst="roundRect">
            <a:avLst>
              <a:gd name="adj" fmla="val 6000"/>
            </a:avLst>
          </a:prstGeom>
          <a:solidFill>
            <a:srgbClr val="FFFFFF"/>
          </a:solidFill>
          <a:ln w="9525">
            <a:solidFill>
              <a:srgbClr val="C9C6BE"/>
            </a:solidFill>
            <a:prstDash val="solid"/>
          </a:ln>
          <a:effectLst>
            <a:outerShdw blurRad="63500" dist="25400" dir="5400000" algn="bl" rotWithShape="0">
              <a:srgbClr val="000000">
                <a:alpha val="10000"/>
              </a:srgbClr>
            </a:outerShdw>
          </a:effectLst>
        </p:spPr>
      </p:sp>
      <p:pic>
        <p:nvPicPr>
          <p:cNvPr id="17" name="Image 5" descr="C:\Users\Vikas\AppData\Local\Temp\claude\e--odoo-hackathon\d02bcbed-ac2c-44f2-a729-2f1ea408498c\scratchpad\ppt\out\venue_ink.png"/>
          <p:cNvPicPr>
            <a:picLocks noChangeAspect="1"/>
          </p:cNvPicPr>
          <p:nvPr/>
        </p:nvPicPr>
        <p:blipFill>
          <a:blip r:embed="rId8"/>
          <a:stretch>
            <a:fillRect/>
          </a:stretch>
        </p:blipFill>
        <p:spPr>
          <a:xfrm>
            <a:off x="749808" y="3163824"/>
            <a:ext cx="438912" cy="438912"/>
          </a:xfrm>
          <a:prstGeom prst="rect">
            <a:avLst/>
          </a:prstGeom>
        </p:spPr>
      </p:pic>
      <p:sp>
        <p:nvSpPr>
          <p:cNvPr id="18" name="Text 10"/>
          <p:cNvSpPr txBox="1"/>
          <p:nvPr/>
        </p:nvSpPr>
        <p:spPr>
          <a:xfrm>
            <a:off x="1325880" y="2926080"/>
            <a:ext cx="2194560" cy="914400"/>
          </a:xfrm>
          <a:prstGeom prst="rect">
            <a:avLst/>
          </a:prstGeom>
          <a:noFill/>
          <a:ln/>
        </p:spPr>
        <p:txBody>
          <a:bodyPr wrap="square" lIns="0" tIns="0" rIns="0" bIns="0" rtlCol="0" anchor="ctr"/>
          <a:lstStyle/>
          <a:p>
            <a:pPr marL="0" indent="0">
              <a:buNone/>
            </a:pPr>
            <a:r>
              <a:rPr lang="en-US" sz="1250" b="1" dirty="0">
                <a:solidFill>
                  <a:srgbClr val="E53935"/>
                </a:solidFill>
                <a:latin typeface="Arial" pitchFamily="34" charset="0"/>
                <a:ea typeface="Arial" pitchFamily="34" charset="-122"/>
                <a:cs typeface="Arial" pitchFamily="34" charset="-120"/>
              </a:rPr>
              <a:t>HUDLE</a:t>
            </a:r>
            <a:endParaRPr lang="en-US" sz="1250" dirty="0"/>
          </a:p>
        </p:txBody>
      </p:sp>
      <p:sp>
        <p:nvSpPr>
          <p:cNvPr id="19" name="Text 11"/>
          <p:cNvSpPr txBox="1"/>
          <p:nvPr/>
        </p:nvSpPr>
        <p:spPr>
          <a:xfrm>
            <a:off x="3657600" y="2999232"/>
            <a:ext cx="3840480" cy="777240"/>
          </a:xfrm>
          <a:prstGeom prst="rect">
            <a:avLst/>
          </a:prstGeom>
          <a:noFill/>
          <a:ln/>
        </p:spPr>
        <p:txBody>
          <a:bodyPr wrap="square" lIns="0" tIns="0" rIns="0" bIns="0" rtlCol="0" anchor="ctr"/>
          <a:lstStyle/>
          <a:p>
            <a:pPr marL="0" indent="0">
              <a:lnSpc>
                <a:spcPct val="110000"/>
              </a:lnSpc>
              <a:buNone/>
            </a:pPr>
            <a:r>
              <a:rPr lang="en-US" sz="1000" dirty="0">
                <a:solidFill>
                  <a:srgbClr val="111111"/>
                </a:solidFill>
                <a:latin typeface="Arial" pitchFamily="34" charset="0"/>
                <a:ea typeface="Arial" pitchFamily="34" charset="-122"/>
                <a:cs typeface="Arial" pitchFamily="34" charset="-120"/>
              </a:rPr>
              <a:t>Sports venue discovery, activity selection, location-based venue browsing and slot booking.</a:t>
            </a:r>
            <a:endParaRPr lang="en-US" sz="1000" dirty="0"/>
          </a:p>
        </p:txBody>
      </p:sp>
      <p:sp>
        <p:nvSpPr>
          <p:cNvPr id="20" name="Text 12"/>
          <p:cNvSpPr txBox="1"/>
          <p:nvPr/>
        </p:nvSpPr>
        <p:spPr>
          <a:xfrm>
            <a:off x="7680960" y="2999232"/>
            <a:ext cx="3794760" cy="777240"/>
          </a:xfrm>
          <a:prstGeom prst="rect">
            <a:avLst/>
          </a:prstGeom>
          <a:noFill/>
          <a:ln/>
        </p:spPr>
        <p:txBody>
          <a:bodyPr wrap="square" lIns="0" tIns="0" rIns="0" bIns="0" rtlCol="0" anchor="ctr"/>
          <a:lstStyle/>
          <a:p>
            <a:pPr marL="0" indent="0">
              <a:lnSpc>
                <a:spcPct val="110000"/>
              </a:lnSpc>
              <a:buNone/>
            </a:pPr>
            <a:r>
              <a:rPr lang="en-US" sz="1000" dirty="0">
                <a:solidFill>
                  <a:srgbClr val="6B6B67"/>
                </a:solidFill>
                <a:latin typeface="Arial" pitchFamily="34" charset="0"/>
                <a:ea typeface="Arial" pitchFamily="34" charset="-122"/>
                <a:cs typeface="Arial" pitchFamily="34" charset="-120"/>
              </a:rPr>
              <a:t>Useful reference for venue/activity selection and booking flows.</a:t>
            </a:r>
            <a:endParaRPr lang="en-US" sz="1000" dirty="0"/>
          </a:p>
        </p:txBody>
      </p:sp>
      <p:sp>
        <p:nvSpPr>
          <p:cNvPr id="21" name="Shape 13"/>
          <p:cNvSpPr/>
          <p:nvPr/>
        </p:nvSpPr>
        <p:spPr>
          <a:xfrm>
            <a:off x="548640" y="3977640"/>
            <a:ext cx="11064240" cy="914400"/>
          </a:xfrm>
          <a:prstGeom prst="roundRect">
            <a:avLst>
              <a:gd name="adj" fmla="val 6000"/>
            </a:avLst>
          </a:prstGeom>
          <a:solidFill>
            <a:srgbClr val="FFFFFF"/>
          </a:solidFill>
          <a:ln w="9525">
            <a:solidFill>
              <a:srgbClr val="C9C6BE"/>
            </a:solidFill>
            <a:prstDash val="solid"/>
          </a:ln>
          <a:effectLst>
            <a:outerShdw blurRad="63500" dist="25400" dir="5400000" algn="bl" rotWithShape="0">
              <a:srgbClr val="000000">
                <a:alpha val="10000"/>
              </a:srgbClr>
            </a:outerShdw>
          </a:effectLst>
        </p:spPr>
      </p:sp>
      <p:pic>
        <p:nvPicPr>
          <p:cNvPr id="22" name="Image 6" descr="C:\Users\Vikas\AppData\Local\Temp\claude\e--odoo-hackathon\d02bcbed-ac2c-44f2-a729-2f1ea408498c\scratchpad\ppt\out\group_ink.png"/>
          <p:cNvPicPr>
            <a:picLocks noChangeAspect="1"/>
          </p:cNvPicPr>
          <p:nvPr/>
        </p:nvPicPr>
        <p:blipFill>
          <a:blip r:embed="rId9"/>
          <a:stretch>
            <a:fillRect/>
          </a:stretch>
        </p:blipFill>
        <p:spPr>
          <a:xfrm>
            <a:off x="749808" y="4215384"/>
            <a:ext cx="438912" cy="438912"/>
          </a:xfrm>
          <a:prstGeom prst="rect">
            <a:avLst/>
          </a:prstGeom>
        </p:spPr>
      </p:pic>
      <p:sp>
        <p:nvSpPr>
          <p:cNvPr id="23" name="Text 14"/>
          <p:cNvSpPr txBox="1"/>
          <p:nvPr/>
        </p:nvSpPr>
        <p:spPr>
          <a:xfrm>
            <a:off x="1325880" y="3977640"/>
            <a:ext cx="2194560" cy="914400"/>
          </a:xfrm>
          <a:prstGeom prst="rect">
            <a:avLst/>
          </a:prstGeom>
          <a:noFill/>
          <a:ln/>
        </p:spPr>
        <p:txBody>
          <a:bodyPr wrap="square" lIns="0" tIns="0" rIns="0" bIns="0" rtlCol="0" anchor="ctr"/>
          <a:lstStyle/>
          <a:p>
            <a:pPr marL="0" indent="0">
              <a:buNone/>
            </a:pPr>
            <a:r>
              <a:rPr lang="en-US" sz="1250" b="1" dirty="0">
                <a:solidFill>
                  <a:srgbClr val="E53935"/>
                </a:solidFill>
                <a:latin typeface="Arial" pitchFamily="34" charset="0"/>
                <a:ea typeface="Arial" pitchFamily="34" charset="-122"/>
                <a:cs typeface="Arial" pitchFamily="34" charset="-120"/>
              </a:rPr>
              <a:t>KHELOMORE</a:t>
            </a:r>
            <a:endParaRPr lang="en-US" sz="1250" dirty="0"/>
          </a:p>
        </p:txBody>
      </p:sp>
      <p:sp>
        <p:nvSpPr>
          <p:cNvPr id="24" name="Text 15"/>
          <p:cNvSpPr txBox="1"/>
          <p:nvPr/>
        </p:nvSpPr>
        <p:spPr>
          <a:xfrm>
            <a:off x="3657600" y="4050792"/>
            <a:ext cx="3840480" cy="777240"/>
          </a:xfrm>
          <a:prstGeom prst="rect">
            <a:avLst/>
          </a:prstGeom>
          <a:noFill/>
          <a:ln/>
        </p:spPr>
        <p:txBody>
          <a:bodyPr wrap="square" lIns="0" tIns="0" rIns="0" bIns="0" rtlCol="0" anchor="ctr"/>
          <a:lstStyle/>
          <a:p>
            <a:pPr marL="0" indent="0">
              <a:lnSpc>
                <a:spcPct val="110000"/>
              </a:lnSpc>
              <a:buNone/>
            </a:pPr>
            <a:r>
              <a:rPr lang="en-US" sz="1000" dirty="0">
                <a:solidFill>
                  <a:srgbClr val="111111"/>
                </a:solidFill>
                <a:latin typeface="Arial" pitchFamily="34" charset="0"/>
                <a:ea typeface="Arial" pitchFamily="34" charset="-122"/>
                <a:cs typeface="Arial" pitchFamily="34" charset="-120"/>
              </a:rPr>
              <a:t>Sports venue booking, finding games, hosting games and finding players.</a:t>
            </a:r>
            <a:endParaRPr lang="en-US" sz="1000" dirty="0"/>
          </a:p>
        </p:txBody>
      </p:sp>
      <p:sp>
        <p:nvSpPr>
          <p:cNvPr id="25" name="Text 16"/>
          <p:cNvSpPr txBox="1"/>
          <p:nvPr/>
        </p:nvSpPr>
        <p:spPr>
          <a:xfrm>
            <a:off x="7680960" y="4050792"/>
            <a:ext cx="3794760" cy="777240"/>
          </a:xfrm>
          <a:prstGeom prst="rect">
            <a:avLst/>
          </a:prstGeom>
          <a:noFill/>
          <a:ln/>
        </p:spPr>
        <p:txBody>
          <a:bodyPr wrap="square" lIns="0" tIns="0" rIns="0" bIns="0" rtlCol="0" anchor="ctr"/>
          <a:lstStyle/>
          <a:p>
            <a:pPr marL="0" indent="0">
              <a:lnSpc>
                <a:spcPct val="110000"/>
              </a:lnSpc>
              <a:buNone/>
            </a:pPr>
            <a:r>
              <a:rPr lang="en-US" sz="1000" dirty="0">
                <a:solidFill>
                  <a:srgbClr val="6B6B67"/>
                </a:solidFill>
                <a:latin typeface="Arial" pitchFamily="34" charset="0"/>
                <a:ea typeface="Arial" pitchFamily="34" charset="-122"/>
                <a:cs typeface="Arial" pitchFamily="34" charset="-120"/>
              </a:rPr>
              <a:t>Demonstrates the value of combining venue discovery with game/community participation.</a:t>
            </a:r>
            <a:endParaRPr lang="en-US" sz="1000" dirty="0"/>
          </a:p>
        </p:txBody>
      </p:sp>
      <p:sp>
        <p:nvSpPr>
          <p:cNvPr id="26" name="Text 17"/>
          <p:cNvSpPr txBox="1"/>
          <p:nvPr/>
        </p:nvSpPr>
        <p:spPr>
          <a:xfrm>
            <a:off x="548640" y="5074920"/>
            <a:ext cx="10972800" cy="292608"/>
          </a:xfrm>
          <a:prstGeom prst="rect">
            <a:avLst/>
          </a:prstGeom>
          <a:noFill/>
          <a:ln/>
        </p:spPr>
        <p:txBody>
          <a:bodyPr wrap="square" lIns="0" tIns="0" rIns="0" bIns="0" rtlCol="0" anchor="ctr"/>
          <a:lstStyle/>
          <a:p>
            <a:pPr marL="0" indent="0">
              <a:buNone/>
            </a:pPr>
            <a:r>
              <a:rPr lang="en-US" sz="1300" b="1" dirty="0">
                <a:solidFill>
                  <a:srgbClr val="111111"/>
                </a:solidFill>
                <a:latin typeface="Arial" pitchFamily="34" charset="0"/>
                <a:ea typeface="Arial" pitchFamily="34" charset="-122"/>
                <a:cs typeface="Arial" pitchFamily="34" charset="-120"/>
              </a:rPr>
              <a:t>THE MARKET ALREADY PROVES THE NEED FOR DIGITAL SPORTS DISCOVERY.</a:t>
            </a:r>
            <a:endParaRPr lang="en-US" sz="1300" dirty="0"/>
          </a:p>
        </p:txBody>
      </p:sp>
      <p:sp>
        <p:nvSpPr>
          <p:cNvPr id="27" name="Text 18"/>
          <p:cNvSpPr txBox="1"/>
          <p:nvPr/>
        </p:nvSpPr>
        <p:spPr>
          <a:xfrm>
            <a:off x="548640" y="5413248"/>
            <a:ext cx="10972800" cy="320040"/>
          </a:xfrm>
          <a:prstGeom prst="rect">
            <a:avLst/>
          </a:prstGeom>
          <a:noFill/>
          <a:ln/>
        </p:spPr>
        <p:txBody>
          <a:bodyPr wrap="square" lIns="0" tIns="0" rIns="0" bIns="0" rtlCol="0" anchor="ctr"/>
          <a:lstStyle/>
          <a:p>
            <a:pPr marL="0" indent="0">
              <a:buNone/>
            </a:pPr>
            <a:r>
              <a:rPr lang="en-US" sz="1200" b="1" dirty="0">
                <a:solidFill>
                  <a:srgbClr val="E53935"/>
                </a:solidFill>
                <a:latin typeface="Arial" pitchFamily="34" charset="0"/>
                <a:ea typeface="Arial" pitchFamily="34" charset="-122"/>
                <a:cs typeface="Arial" pitchFamily="34" charset="-120"/>
              </a:rPr>
              <a:t>QUICKCOURT'S FOCUS: </a:t>
            </a:r>
            <a:r>
              <a:rPr lang="en-US" sz="1200" dirty="0">
                <a:solidFill>
                  <a:srgbClr val="111111"/>
                </a:solidFill>
                <a:latin typeface="Arial" pitchFamily="34" charset="0"/>
                <a:ea typeface="Arial" pitchFamily="34" charset="-122"/>
                <a:cs typeface="Arial" pitchFamily="34" charset="-120"/>
              </a:rPr>
              <a:t>A simple end-to-end experience for discovery → booking → matchmaking.</a:t>
            </a:r>
            <a:endParaRPr lang="en-US" sz="1200" dirty="0"/>
          </a:p>
        </p:txBody>
      </p:sp>
      <p:sp>
        <p:nvSpPr>
          <p:cNvPr id="28" name="Text 19"/>
          <p:cNvSpPr txBox="1"/>
          <p:nvPr/>
        </p:nvSpPr>
        <p:spPr>
          <a:xfrm>
            <a:off x="548640" y="5806440"/>
            <a:ext cx="5486400" cy="274320"/>
          </a:xfrm>
          <a:prstGeom prst="rect">
            <a:avLst/>
          </a:prstGeom>
          <a:noFill/>
          <a:ln/>
        </p:spPr>
        <p:txBody>
          <a:bodyPr wrap="square" lIns="0" tIns="0" rIns="0" bIns="0" rtlCol="0" anchor="ctr"/>
          <a:lstStyle/>
          <a:p>
            <a:pPr marL="0" indent="0">
              <a:buNone/>
            </a:pPr>
            <a:r>
              <a:rPr lang="en-US" sz="900" i="1" dirty="0">
                <a:solidFill>
                  <a:srgbClr val="6B6B67"/>
                </a:solidFill>
                <a:latin typeface="Arial" pitchFamily="34" charset="0"/>
                <a:ea typeface="Arial" pitchFamily="34" charset="-122"/>
                <a:cs typeface="Arial" pitchFamily="34" charset="-120"/>
              </a:rPr>
              <a:t>Research references accessed September 2026</a:t>
            </a:r>
            <a:endParaRPr lang="en-US" sz="900" dirty="0"/>
          </a:p>
        </p:txBody>
      </p:sp>
      <p:sp>
        <p:nvSpPr>
          <p:cNvPr id="29" name="Text 20"/>
          <p:cNvSpPr txBox="1"/>
          <p:nvPr/>
        </p:nvSpPr>
        <p:spPr>
          <a:xfrm>
            <a:off x="457200" y="6528816"/>
            <a:ext cx="2743200" cy="256032"/>
          </a:xfrm>
          <a:prstGeom prst="rect">
            <a:avLst/>
          </a:prstGeom>
          <a:noFill/>
          <a:ln/>
        </p:spPr>
        <p:txBody>
          <a:bodyPr wrap="square" lIns="0" tIns="0" rIns="0" bIns="0" rtlCol="0" anchor="ctr"/>
          <a:lstStyle/>
          <a:p>
            <a:pPr marL="0" indent="0">
              <a:buNone/>
            </a:pPr>
            <a:r>
              <a:rPr lang="en-US" sz="800" dirty="0">
                <a:solidFill>
                  <a:srgbClr val="6B6B67"/>
                </a:solidFill>
                <a:latin typeface="Arial" pitchFamily="34" charset="0"/>
                <a:ea typeface="Arial" pitchFamily="34" charset="-122"/>
                <a:cs typeface="Arial" pitchFamily="34" charset="-120"/>
              </a:rPr>
              <a:t>QUICKCOURT / 2026</a:t>
            </a:r>
            <a:endParaRPr lang="en-US" sz="800" dirty="0"/>
          </a:p>
        </p:txBody>
      </p:sp>
      <p:sp>
        <p:nvSpPr>
          <p:cNvPr id="30" name="Text 21"/>
          <p:cNvSpPr txBox="1"/>
          <p:nvPr/>
        </p:nvSpPr>
        <p:spPr>
          <a:xfrm>
            <a:off x="4480560" y="6528816"/>
            <a:ext cx="3200400" cy="256032"/>
          </a:xfrm>
          <a:prstGeom prst="rect">
            <a:avLst/>
          </a:prstGeom>
          <a:noFill/>
          <a:ln/>
        </p:spPr>
        <p:txBody>
          <a:bodyPr wrap="square" lIns="0" tIns="0" rIns="0" bIns="0" rtlCol="0" anchor="ctr"/>
          <a:lstStyle/>
          <a:p>
            <a:pPr marL="0" indent="0" algn="ctr">
              <a:buNone/>
            </a:pPr>
            <a:r>
              <a:rPr lang="en-US" sz="800" kern="0" spc="200" dirty="0">
                <a:solidFill>
                  <a:srgbClr val="6B6B67"/>
                </a:solidFill>
                <a:latin typeface="Arial" pitchFamily="34" charset="0"/>
                <a:ea typeface="Arial" pitchFamily="34" charset="-122"/>
                <a:cs typeface="Arial" pitchFamily="34" charset="-120"/>
              </a:rPr>
              <a:t>RESEARCH</a:t>
            </a:r>
            <a:endParaRPr lang="en-US" sz="800" dirty="0"/>
          </a:p>
        </p:txBody>
      </p:sp>
      <p:sp>
        <p:nvSpPr>
          <p:cNvPr id="31" name="Text 22"/>
          <p:cNvSpPr txBox="1"/>
          <p:nvPr/>
        </p:nvSpPr>
        <p:spPr>
          <a:xfrm>
            <a:off x="10332720" y="6528816"/>
            <a:ext cx="1371600" cy="256032"/>
          </a:xfrm>
          <a:prstGeom prst="rect">
            <a:avLst/>
          </a:prstGeom>
          <a:noFill/>
          <a:ln/>
        </p:spPr>
        <p:txBody>
          <a:bodyPr wrap="square" lIns="0" tIns="0" rIns="0" bIns="0" rtlCol="0" anchor="ctr"/>
          <a:lstStyle/>
          <a:p>
            <a:pPr marL="0" indent="0" algn="r">
              <a:buNone/>
            </a:pPr>
            <a:r>
              <a:rPr lang="en-US" sz="800" b="1" dirty="0">
                <a:solidFill>
                  <a:srgbClr val="E53935"/>
                </a:solidFill>
                <a:latin typeface="Arial" pitchFamily="34" charset="0"/>
                <a:ea typeface="Arial" pitchFamily="34" charset="-122"/>
                <a:cs typeface="Arial" pitchFamily="34" charset="-120"/>
              </a:rPr>
              <a:t>07</a:t>
            </a:r>
            <a:r>
              <a:rPr lang="en-US" sz="800" dirty="0">
                <a:solidFill>
                  <a:srgbClr val="6B6B67"/>
                </a:solidFill>
                <a:latin typeface="Arial" pitchFamily="34" charset="0"/>
                <a:ea typeface="Arial" pitchFamily="34" charset="-122"/>
                <a:cs typeface="Arial" pitchFamily="34" charset="-120"/>
              </a:rPr>
              <a:t> / 08</a:t>
            </a:r>
            <a:endParaRPr lang="en-US" sz="800"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4EE"/>
        </a:solidFill>
        <a:effectLst/>
      </p:bgPr>
    </p:bg>
    <p:spTree>
      <p:nvGrpSpPr>
        <p:cNvPr id="1" name=""/>
        <p:cNvGrpSpPr/>
        <p:nvPr/>
      </p:nvGrpSpPr>
      <p:grpSpPr>
        <a:xfrm>
          <a:off x="0" y="0"/>
          <a:ext cx="0" cy="0"/>
          <a:chOff x="0" y="0"/>
          <a:chExt cx="0" cy="0"/>
        </a:xfrm>
      </p:grpSpPr>
      <p:pic>
        <p:nvPicPr>
          <p:cNvPr id="2" name="Image 0" descr="C:\Users\Vikas\AppData\Local\Temp\claude\e--odoo-hackathon\d02bcbed-ac2c-44f2-a729-2f1ea408498c\scratchpad\ppt\out\ball_red.png"/>
          <p:cNvPicPr>
            <a:picLocks noChangeAspect="1"/>
          </p:cNvPicPr>
          <p:nvPr/>
        </p:nvPicPr>
        <p:blipFill>
          <a:blip r:embed="rId3">
            <a:alphaModFix amt="92000"/>
          </a:blip>
          <a:stretch>
            <a:fillRect/>
          </a:stretch>
        </p:blipFill>
        <p:spPr>
          <a:xfrm rot="-480000">
            <a:off x="320040" y="502920"/>
            <a:ext cx="1280160" cy="1280160"/>
          </a:xfrm>
          <a:prstGeom prst="rect">
            <a:avLst/>
          </a:prstGeom>
        </p:spPr>
      </p:pic>
      <p:pic>
        <p:nvPicPr>
          <p:cNvPr id="3" name="Image 1" descr="C:\Users\Vikas\AppData\Local\Temp\claude\e--odoo-hackathon\d02bcbed-ac2c-44f2-a729-2f1ea408498c\scratchpad\ppt\out\football_ink.png"/>
          <p:cNvPicPr>
            <a:picLocks noChangeAspect="1"/>
          </p:cNvPicPr>
          <p:nvPr/>
        </p:nvPicPr>
        <p:blipFill>
          <a:blip r:embed="rId4">
            <a:alphaModFix amt="92000"/>
          </a:blip>
          <a:stretch>
            <a:fillRect/>
          </a:stretch>
        </p:blipFill>
        <p:spPr>
          <a:xfrm rot="720000">
            <a:off x="10698480" y="502920"/>
            <a:ext cx="1188720" cy="1188720"/>
          </a:xfrm>
          <a:prstGeom prst="rect">
            <a:avLst/>
          </a:prstGeom>
        </p:spPr>
      </p:pic>
      <p:pic>
        <p:nvPicPr>
          <p:cNvPr id="4" name="Image 2" descr="C:\Users\Vikas\AppData\Local\Temp\claude\e--odoo-hackathon\d02bcbed-ac2c-44f2-a729-2f1ea408498c\scratchpad\ppt\out\tennis_racket_ink.png"/>
          <p:cNvPicPr>
            <a:picLocks noChangeAspect="1"/>
          </p:cNvPicPr>
          <p:nvPr/>
        </p:nvPicPr>
        <p:blipFill>
          <a:blip r:embed="rId5">
            <a:alphaModFix amt="92000"/>
          </a:blip>
          <a:stretch>
            <a:fillRect/>
          </a:stretch>
        </p:blipFill>
        <p:spPr>
          <a:xfrm rot="-600000">
            <a:off x="502920" y="4709160"/>
            <a:ext cx="914400" cy="1828800"/>
          </a:xfrm>
          <a:prstGeom prst="rect">
            <a:avLst/>
          </a:prstGeom>
        </p:spPr>
      </p:pic>
      <p:pic>
        <p:nvPicPr>
          <p:cNvPr id="5" name="Image 3" descr="C:\Users\Vikas\AppData\Local\Temp\claude\e--odoo-hackathon\d02bcbed-ac2c-44f2-a729-2f1ea408498c\scratchpad\ppt\out\badminton_racket_ink.png"/>
          <p:cNvPicPr>
            <a:picLocks noChangeAspect="1"/>
          </p:cNvPicPr>
          <p:nvPr/>
        </p:nvPicPr>
        <p:blipFill>
          <a:blip r:embed="rId6">
            <a:alphaModFix amt="92000"/>
          </a:blip>
          <a:stretch>
            <a:fillRect/>
          </a:stretch>
        </p:blipFill>
        <p:spPr>
          <a:xfrm rot="840000">
            <a:off x="10881360" y="4572000"/>
            <a:ext cx="914400" cy="2011680"/>
          </a:xfrm>
          <a:prstGeom prst="rect">
            <a:avLst/>
          </a:prstGeom>
        </p:spPr>
      </p:pic>
      <p:pic>
        <p:nvPicPr>
          <p:cNvPr id="6" name="Image 4" descr="C:\Users\Vikas\AppData\Local\Temp\claude\e--odoo-hackathon\d02bcbed-ac2c-44f2-a729-2f1ea408498c\scratchpad\ppt\out\basketball_red.png"/>
          <p:cNvPicPr>
            <a:picLocks noChangeAspect="1"/>
          </p:cNvPicPr>
          <p:nvPr/>
        </p:nvPicPr>
        <p:blipFill>
          <a:blip r:embed="rId7">
            <a:alphaModFix amt="92000"/>
          </a:blip>
          <a:stretch>
            <a:fillRect/>
          </a:stretch>
        </p:blipFill>
        <p:spPr>
          <a:xfrm rot="360000">
            <a:off x="9281160" y="5349240"/>
            <a:ext cx="960120" cy="960120"/>
          </a:xfrm>
          <a:prstGeom prst="rect">
            <a:avLst/>
          </a:prstGeom>
        </p:spPr>
      </p:pic>
      <p:pic>
        <p:nvPicPr>
          <p:cNvPr id="7" name="Image 5" descr="C:\Users\Vikas\AppData\Local\Temp\claude\e--odoo-hackathon\d02bcbed-ac2c-44f2-a729-2f1ea408498c\scratchpad\ppt\out\stumps_ink.png"/>
          <p:cNvPicPr>
            <a:picLocks noChangeAspect="1"/>
          </p:cNvPicPr>
          <p:nvPr/>
        </p:nvPicPr>
        <p:blipFill>
          <a:blip r:embed="rId8">
            <a:alphaModFix amt="92000"/>
          </a:blip>
          <a:stretch>
            <a:fillRect/>
          </a:stretch>
        </p:blipFill>
        <p:spPr>
          <a:xfrm>
            <a:off x="5852160" y="320040"/>
            <a:ext cx="960120" cy="960120"/>
          </a:xfrm>
          <a:prstGeom prst="rect">
            <a:avLst/>
          </a:prstGeom>
        </p:spPr>
      </p:pic>
      <p:pic>
        <p:nvPicPr>
          <p:cNvPr id="8" name="Image 6" descr="C:\Users\Vikas\AppData\Local\Temp\claude\e--odoo-hackathon\d02bcbed-ac2c-44f2-a729-2f1ea408498c\scratchpad\ppt\out\circle_red.png"/>
          <p:cNvPicPr>
            <a:picLocks noChangeAspect="1"/>
          </p:cNvPicPr>
          <p:nvPr/>
        </p:nvPicPr>
        <p:blipFill>
          <a:blip r:embed="rId9"/>
          <a:stretch>
            <a:fillRect/>
          </a:stretch>
        </p:blipFill>
        <p:spPr>
          <a:xfrm>
            <a:off x="3154680" y="2304288"/>
            <a:ext cx="5394960" cy="987552"/>
          </a:xfrm>
          <a:prstGeom prst="rect">
            <a:avLst/>
          </a:prstGeom>
        </p:spPr>
      </p:pic>
      <p:pic>
        <p:nvPicPr>
          <p:cNvPr id="9" name="Image 7" descr="C:\Users\Vikas\AppData\Local\Temp\claude\e--odoo-hackathon\d02bcbed-ac2c-44f2-a729-2f1ea408498c\scratchpad\ppt\out\arrow_red.png"/>
          <p:cNvPicPr>
            <a:picLocks noChangeAspect="1"/>
          </p:cNvPicPr>
          <p:nvPr/>
        </p:nvPicPr>
        <p:blipFill>
          <a:blip r:embed="rId10"/>
          <a:stretch>
            <a:fillRect/>
          </a:stretch>
        </p:blipFill>
        <p:spPr>
          <a:xfrm rot="720000">
            <a:off x="8686800" y="1965960"/>
            <a:ext cx="1371600" cy="594360"/>
          </a:xfrm>
          <a:prstGeom prst="rect">
            <a:avLst/>
          </a:prstGeom>
        </p:spPr>
      </p:pic>
      <p:sp>
        <p:nvSpPr>
          <p:cNvPr id="10" name="Text 0"/>
          <p:cNvSpPr txBox="1"/>
          <p:nvPr/>
        </p:nvSpPr>
        <p:spPr>
          <a:xfrm>
            <a:off x="1645920" y="2331720"/>
            <a:ext cx="8869680" cy="1188720"/>
          </a:xfrm>
          <a:prstGeom prst="rect">
            <a:avLst/>
          </a:prstGeom>
          <a:noFill/>
          <a:ln/>
        </p:spPr>
        <p:txBody>
          <a:bodyPr wrap="square" lIns="0" tIns="0" rIns="0" bIns="0" rtlCol="0" anchor="ctr"/>
          <a:lstStyle/>
          <a:p>
            <a:pPr marL="0" indent="0" algn="ctr">
              <a:buNone/>
            </a:pPr>
            <a:r>
              <a:rPr lang="en-US" sz="5600" b="1" dirty="0">
                <a:solidFill>
                  <a:srgbClr val="111111"/>
                </a:solidFill>
                <a:latin typeface="Arial" pitchFamily="34" charset="0"/>
                <a:ea typeface="Arial" pitchFamily="34" charset="-122"/>
                <a:cs typeface="Arial" pitchFamily="34" charset="-120"/>
              </a:rPr>
              <a:t>QUICKCOURT</a:t>
            </a:r>
            <a:endParaRPr lang="en-US" sz="5600" dirty="0"/>
          </a:p>
        </p:txBody>
      </p:sp>
      <p:sp>
        <p:nvSpPr>
          <p:cNvPr id="11" name="Text 1"/>
          <p:cNvSpPr txBox="1"/>
          <p:nvPr/>
        </p:nvSpPr>
        <p:spPr>
          <a:xfrm>
            <a:off x="1645920" y="3520440"/>
            <a:ext cx="8869680" cy="457200"/>
          </a:xfrm>
          <a:prstGeom prst="rect">
            <a:avLst/>
          </a:prstGeom>
          <a:noFill/>
          <a:ln/>
        </p:spPr>
        <p:txBody>
          <a:bodyPr wrap="square" lIns="0" tIns="0" rIns="0" bIns="0" rtlCol="0" anchor="ctr"/>
          <a:lstStyle/>
          <a:p>
            <a:pPr marL="0" indent="0" algn="ctr">
              <a:buNone/>
            </a:pPr>
            <a:r>
              <a:rPr lang="en-US" sz="1800" b="1" dirty="0">
                <a:solidFill>
                  <a:srgbClr val="111111"/>
                </a:solidFill>
                <a:latin typeface="Arial" pitchFamily="34" charset="0"/>
                <a:ea typeface="Arial" pitchFamily="34" charset="-122"/>
                <a:cs typeface="Arial" pitchFamily="34" charset="-120"/>
              </a:rPr>
              <a:t>FIND YOUR COURT. </a:t>
            </a:r>
            <a:r>
              <a:rPr lang="en-US" sz="1800" b="1" dirty="0">
                <a:solidFill>
                  <a:srgbClr val="E53935"/>
                </a:solidFill>
                <a:latin typeface="Arial" pitchFamily="34" charset="0"/>
                <a:ea typeface="Arial" pitchFamily="34" charset="-122"/>
                <a:cs typeface="Arial" pitchFamily="34" charset="-120"/>
              </a:rPr>
              <a:t>FIND YOUR PEOPLE.</a:t>
            </a:r>
            <a:endParaRPr lang="en-US" sz="1800" dirty="0"/>
          </a:p>
        </p:txBody>
      </p:sp>
      <p:sp>
        <p:nvSpPr>
          <p:cNvPr id="12" name="Text 2"/>
          <p:cNvSpPr txBox="1"/>
          <p:nvPr/>
        </p:nvSpPr>
        <p:spPr>
          <a:xfrm>
            <a:off x="1645920" y="4114800"/>
            <a:ext cx="8869680" cy="457200"/>
          </a:xfrm>
          <a:prstGeom prst="rect">
            <a:avLst/>
          </a:prstGeom>
          <a:noFill/>
          <a:ln/>
        </p:spPr>
        <p:txBody>
          <a:bodyPr wrap="square" lIns="0" tIns="0" rIns="0" bIns="0" rtlCol="0" anchor="ctr"/>
          <a:lstStyle/>
          <a:p>
            <a:pPr marL="0" indent="0" algn="ctr">
              <a:buNone/>
            </a:pPr>
            <a:r>
              <a:rPr lang="en-US" sz="1500" b="1" kern="0" spc="300" dirty="0">
                <a:solidFill>
                  <a:srgbClr val="6B6B67"/>
                </a:solidFill>
                <a:latin typeface="Arial" pitchFamily="34" charset="0"/>
                <a:ea typeface="Arial" pitchFamily="34" charset="-122"/>
                <a:cs typeface="Arial" pitchFamily="34" charset="-120"/>
              </a:rPr>
              <a:t>THANK YOU.</a:t>
            </a:r>
            <a:endParaRPr lang="en-US" sz="1500" dirty="0"/>
          </a:p>
        </p:txBody>
      </p:sp>
      <p:sp>
        <p:nvSpPr>
          <p:cNvPr id="13" name="Text 3"/>
          <p:cNvSpPr txBox="1"/>
          <p:nvPr/>
        </p:nvSpPr>
        <p:spPr>
          <a:xfrm>
            <a:off x="1645920" y="4572000"/>
            <a:ext cx="8869680" cy="365760"/>
          </a:xfrm>
          <a:prstGeom prst="rect">
            <a:avLst/>
          </a:prstGeom>
          <a:noFill/>
          <a:ln/>
        </p:spPr>
        <p:txBody>
          <a:bodyPr wrap="square" lIns="0" tIns="0" rIns="0" bIns="0" rtlCol="0" anchor="ctr"/>
          <a:lstStyle/>
          <a:p>
            <a:pPr marL="0" indent="0" algn="ctr">
              <a:buNone/>
            </a:pPr>
            <a:r>
              <a:rPr lang="en-US" sz="1200" i="1" dirty="0">
                <a:solidFill>
                  <a:srgbClr val="E53935"/>
                </a:solidFill>
                <a:latin typeface="Arial" pitchFamily="34" charset="0"/>
                <a:ea typeface="Arial" pitchFamily="34" charset="-122"/>
                <a:cs typeface="Arial" pitchFamily="34" charset="-120"/>
              </a:rPr>
              <a:t>LET'S GET THE GAME STARTED.</a:t>
            </a:r>
            <a:endParaRPr lang="en-US" sz="1200" dirty="0"/>
          </a:p>
        </p:txBody>
      </p:sp>
      <p:sp>
        <p:nvSpPr>
          <p:cNvPr id="14" name="Text 4"/>
          <p:cNvSpPr txBox="1"/>
          <p:nvPr/>
        </p:nvSpPr>
        <p:spPr>
          <a:xfrm>
            <a:off x="1645920" y="5989320"/>
            <a:ext cx="8869680" cy="320040"/>
          </a:xfrm>
          <a:prstGeom prst="rect">
            <a:avLst/>
          </a:prstGeom>
          <a:noFill/>
          <a:ln/>
        </p:spPr>
        <p:txBody>
          <a:bodyPr wrap="square" lIns="0" tIns="0" rIns="0" bIns="0" rtlCol="0" anchor="ctr"/>
          <a:lstStyle/>
          <a:p>
            <a:pPr marL="0" indent="0" algn="ctr">
              <a:buNone/>
            </a:pPr>
            <a:r>
              <a:rPr lang="en-US" sz="1200" b="1" kern="0" spc="200" dirty="0">
                <a:solidFill>
                  <a:srgbClr val="6B6B67"/>
                </a:solidFill>
                <a:latin typeface="Arial" pitchFamily="34" charset="0"/>
                <a:ea typeface="Arial" pitchFamily="34" charset="-122"/>
                <a:cs typeface="Arial" pitchFamily="34" charset="-120"/>
              </a:rPr>
              <a:t>RUSHI  ·  HELLY  ·  KRISHNA</a:t>
            </a:r>
            <a:endParaRPr lang="en-US" sz="1200" dirty="0"/>
          </a:p>
        </p:txBody>
      </p:sp>
      <p:sp>
        <p:nvSpPr>
          <p:cNvPr id="15" name="Text 5"/>
          <p:cNvSpPr txBox="1"/>
          <p:nvPr/>
        </p:nvSpPr>
        <p:spPr>
          <a:xfrm>
            <a:off x="457200" y="6528816"/>
            <a:ext cx="2743200" cy="256032"/>
          </a:xfrm>
          <a:prstGeom prst="rect">
            <a:avLst/>
          </a:prstGeom>
          <a:noFill/>
          <a:ln/>
        </p:spPr>
        <p:txBody>
          <a:bodyPr wrap="square" lIns="0" tIns="0" rIns="0" bIns="0" rtlCol="0" anchor="ctr"/>
          <a:lstStyle/>
          <a:p>
            <a:pPr marL="0" indent="0">
              <a:buNone/>
            </a:pPr>
            <a:r>
              <a:rPr lang="en-US" sz="800" dirty="0">
                <a:solidFill>
                  <a:srgbClr val="6B6B67"/>
                </a:solidFill>
                <a:latin typeface="Arial" pitchFamily="34" charset="0"/>
                <a:ea typeface="Arial" pitchFamily="34" charset="-122"/>
                <a:cs typeface="Arial" pitchFamily="34" charset="-120"/>
              </a:rPr>
              <a:t>QUICKCOURT / 2026</a:t>
            </a:r>
            <a:endParaRPr lang="en-US" sz="800" dirty="0"/>
          </a:p>
        </p:txBody>
      </p:sp>
      <p:sp>
        <p:nvSpPr>
          <p:cNvPr id="16" name="Text 6"/>
          <p:cNvSpPr txBox="1"/>
          <p:nvPr/>
        </p:nvSpPr>
        <p:spPr>
          <a:xfrm>
            <a:off x="4480560" y="6528816"/>
            <a:ext cx="3200400" cy="256032"/>
          </a:xfrm>
          <a:prstGeom prst="rect">
            <a:avLst/>
          </a:prstGeom>
          <a:noFill/>
          <a:ln/>
        </p:spPr>
        <p:txBody>
          <a:bodyPr wrap="square" lIns="0" tIns="0" rIns="0" bIns="0" rtlCol="0" anchor="ctr"/>
          <a:lstStyle/>
          <a:p>
            <a:pPr marL="0" indent="0" algn="ctr">
              <a:buNone/>
            </a:pPr>
            <a:r>
              <a:rPr lang="en-US" sz="800" kern="0" spc="200" dirty="0">
                <a:solidFill>
                  <a:srgbClr val="6B6B67"/>
                </a:solidFill>
                <a:latin typeface="Arial" pitchFamily="34" charset="0"/>
                <a:ea typeface="Arial" pitchFamily="34" charset="-122"/>
                <a:cs typeface="Arial" pitchFamily="34" charset="-120"/>
              </a:rPr>
              <a:t>THE GAME IS JUST GETTING STARTED</a:t>
            </a:r>
            <a:endParaRPr lang="en-US" sz="800" dirty="0"/>
          </a:p>
        </p:txBody>
      </p:sp>
      <p:sp>
        <p:nvSpPr>
          <p:cNvPr id="17" name="Text 7"/>
          <p:cNvSpPr txBox="1"/>
          <p:nvPr/>
        </p:nvSpPr>
        <p:spPr>
          <a:xfrm>
            <a:off x="10332720" y="6528816"/>
            <a:ext cx="1371600" cy="256032"/>
          </a:xfrm>
          <a:prstGeom prst="rect">
            <a:avLst/>
          </a:prstGeom>
          <a:noFill/>
          <a:ln/>
        </p:spPr>
        <p:txBody>
          <a:bodyPr wrap="square" lIns="0" tIns="0" rIns="0" bIns="0" rtlCol="0" anchor="ctr"/>
          <a:lstStyle/>
          <a:p>
            <a:pPr marL="0" indent="0" algn="r">
              <a:buNone/>
            </a:pPr>
            <a:r>
              <a:rPr lang="en-US" sz="800" b="1" dirty="0">
                <a:solidFill>
                  <a:srgbClr val="E53935"/>
                </a:solidFill>
                <a:latin typeface="Arial" pitchFamily="34" charset="0"/>
                <a:ea typeface="Arial" pitchFamily="34" charset="-122"/>
                <a:cs typeface="Arial" pitchFamily="34" charset="-120"/>
              </a:rPr>
              <a:t>08</a:t>
            </a:r>
            <a:r>
              <a:rPr lang="en-US" sz="800" dirty="0">
                <a:solidFill>
                  <a:srgbClr val="6B6B67"/>
                </a:solidFill>
                <a:latin typeface="Arial" pitchFamily="34" charset="0"/>
                <a:ea typeface="Arial" pitchFamily="34" charset="-122"/>
                <a:cs typeface="Arial" pitchFamily="34" charset="-120"/>
              </a:rPr>
              <a:t> / 08</a:t>
            </a:r>
            <a:endParaRPr lang="en-US" sz="800" dirty="0"/>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696</Words>
  <Application>Microsoft Office PowerPoint</Application>
  <PresentationFormat>Widescreen</PresentationFormat>
  <Paragraphs>151</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Microsoft account</cp:lastModifiedBy>
  <cp:revision>2</cp:revision>
  <dcterms:created xsi:type="dcterms:W3CDTF">2026-09-27T21:23:50Z</dcterms:created>
  <dcterms:modified xsi:type="dcterms:W3CDTF">2026-09-27T21:31:21Z</dcterms:modified>
</cp:coreProperties>
</file>